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undations" id="{9b52c2cb-4556-68a7-08d8-59cd7606a70a}">
          <p14:sldIdLst>
            <p14:sldId id="257"/>
            <p14:sldId id="258"/>
            <p14:sldId id="259"/>
          </p14:sldIdLst>
        </p14:section>
        <p14:section name="Code walkthrough" id="{5b55a8e5-3a80-7897-d257-8a57bebc500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nternals" id="{97cddcad-c859-1542-0f2b-b83e9cc02df2}">
          <p14:sldIdLst>
            <p14:sldId id="268"/>
            <p14:sldId id="269"/>
          </p14:sldIdLst>
        </p14:section>
        <p14:section name="Review" id="{39e3fe7d-40d7-287a-7558-91ee9bb55cbb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of a small but complete Azure Terraform project. Every block of the code is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is declarative: you describe the end state, Terraform computes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 downloads providers; plan is a dry run; apply executes; destroy tears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Azure resources, wired together purely through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tells Terraform which provider plugin to download. Pinning the exact version gives reproducible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are inputs. Defaults make them optional; override with -var, .tfvars files or TF_VAR_ environment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Locals are like internal constants/functions. Variables come from outside; locals are derived inside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Azure resource must live in a resource group. 'my_rg' is the Terraform label used to reference it; 'name' is the Azure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VNet is the private network; the subnet carves a slice out of it. Note how arguments reference earlier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NSG is a stateful firewall. Creating it does nothing until it is attached to a subnet (or NIC).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evaluated from lowest priority number to highest; the first match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 expose values after apply — for humans (terraform output) or other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builds a DAG from references and creates independent resources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comments in the code ask 'where is the resource group info stored?' — in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points found while reading the supplied code — the first one will fail terraform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7432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74320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Terraform on Azure: A Deep Dive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743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Infrastructure as Code explained line by line — Resource Group, VNet, Subnet, NSG, variables, locals, outputs and state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is Terraform &amp; Infrastructure as Code?</a:t>
            </a:r>
            <a:endParaRPr lang="en-US" sz="26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IaC: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define cloud infrastructure in text files instead of clicking in the portal — versioned, reviewable, repeatable.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Declarative: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you state WHAT you want (a VNet with this CIDR); Terraform works out HOW and in what order.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HCL: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HashiCorp Configuration Language — blocks, arguments, expressions.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Providers: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plugins that talk to a platform's API (azurerm for Azure, aws, kubernetes…).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State: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file mapping your code to real resources, so Terraform knows what exists.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Idempotent: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apply twice, nothing changes the second time.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60720" y="1188720"/>
            <a:ext cx="2926080" cy="6858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1. Write  .tf files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60720" y="2011680"/>
            <a:ext cx="2926080" cy="6858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2. Plan  (preview changes)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2834640"/>
            <a:ext cx="292608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3. Apply  (create / update)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3657600"/>
            <a:ext cx="2926080" cy="6858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4. State  (tracks reality)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Core workflow &amp; commands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init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Downloads providers (azurerm) and sets up the working directory / backend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fmt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Auto-formats .tf files to canonical style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validate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Checks syntax and internal consistency, no API calls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plan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Shows what will be created (+), changed (~) or destroyed (-)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apply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Executes the plan and updates the state file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output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Prints the output values stored in state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terraform destroy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Deletes everything the configuration manages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we are building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8229600" cy="36118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097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Resource Group  azurerm_resource_group.my_rg  →  sap-dev-gopal_rg  (eastus)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4754880" cy="3017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554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Virtual Network  vnet  ·  10.0.0.0/16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4206240" cy="13716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Subnet  web_subnet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10.0.1.0/24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554480"/>
            <a:ext cx="256032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NSG  web_nsg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(firewall rules container)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2743200"/>
            <a:ext cx="2560320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Rule_port_22  priority 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3429000"/>
            <a:ext cx="2560320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Rule_port_80  priority 110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NSG attached to subnet via association resource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 flipV="1">
            <a:off x="5212080" y="2560320"/>
            <a:ext cx="640080" cy="-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1. terraform block &amp; required_providers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4206240" cy="35661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 = "hashicorp/azurerm"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"=5.0.0"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"azurerm"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Points"/>
          <p:cNvSpPr txBox="1"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terraform {}: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settings for Terraform itself (versions, providers, backend).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source: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registry address — namespace/type, i.e. hashicorp/azurerm.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version = "=5.0.0":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exact pin. Prevents surprise upgrades in production. Alternative: "~&gt; 5.0" allows only 5.x minors.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provider "azurerm":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configures the plugin. features {} is mandatory (even empty) for azurerm.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Auth: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uses az login, service principal or managed identity — never hard-code secrets here.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Lock file: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init writes .terraform.lock.hcl; commit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 Input variables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73736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project_name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 of every name and tag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environment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 / test / prod label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resource_group_name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gopal_rg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Suffix of the RG 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eastus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Azure region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vnet_name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gopal-network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VNet name suffix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vnet_address_space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list(string)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["10.0.0.0/16"]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VNet CIDR range(s)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subnet_name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web-subnet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Subnet name suffix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subnet_address_prefixes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list(string)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["10.0.1.0/24"]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Subnet CIDR range(s)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Accessed as var.&lt;name&gt;  ·  Other types: number, bool, map(string), object({...})  ·  Add validation {} and sensitive = true when needed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3. Locals — computed, reusable values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4754880" cy="23774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name_prefix = "${var.project_name}-${var.environment}"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project_tag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     = var.project_name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var.environment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ManagedBy   = "Kyn-dev-team01"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Points"/>
          <p:cNvSpPr txBox="1"/>
          <p:nvPr/>
        </p:nvSpPr>
        <p:spPr>
          <a:xfrm>
            <a:off x="5394960" y="1097280"/>
            <a:ext cx="33832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name_prefix: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string interpolation → sap-dev. Used as local.name_prefix.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project_tag: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 map of tags, applied with tags = local.project_tag.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local vs var: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var = input from the caller; local = internal expression, cannot be overridden.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Why: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change the naming standard once, every resource follows (DRY).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Note: block is locals (plural) to define, local.x (singular) to reference.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4. Resource Group — the container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"my_rg"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"${local.name_prefix}-${var.resource_group_name}"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local.project_tag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Syntax: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resource "&lt;TYPE&gt;" "&lt;LOCAL LABEL&gt;" { arguments }. TYPE comes from the provider; LABEL is only for Terraform.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Address: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azurerm_resource_group.my_rg — how other blocks reference it.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Resulting name: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sap-dev-gopal_rg (the comment says sap-dev-gopal-rg; the default uses an underscore).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Tags: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metadata for cost, ownership and governance, injected from the local map.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5. Virtual Network &amp; Subnet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"azurerm_virtual_network" "vnet"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"${local.name_prefix}-${var.vnet_name}"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= azurerm_resource_group.my_rg.location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azurerm_resource_group.my_rg.name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address_space       = var.vnet_address_space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           = local.project_tag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"azurerm_subnet" "web_subnet"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= "${local.name_prefix}-${var.subnet_name}"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= azurerm_resource_group.my_rg.name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virtual_network_name = azurerm_virtual_network.vnet.name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address_prefixes     = var.subnet_address_prefixes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Points"/>
          <p:cNvSpPr txBox="1"/>
          <p:nvPr/>
        </p:nvSpPr>
        <p:spPr>
          <a:xfrm>
            <a:off x="5760720" y="1097280"/>
            <a:ext cx="3017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Reference: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azurerm_resource_group.my_rg.name reads an attribute of another resource.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Implicit dependency: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Terraform sees the reference and creates the RG first, then VNet, then subnet.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address_space: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10.0.0.0/16 = 65,536 IPs for the VNet.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address_prefixes: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10.0.1.0/24 = 256 IPs (Azure reserves 5) for web tier.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Subnet must fit inside the VNet range.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6. Network Security Group &amp; association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5120640" cy="2743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"azurerm_network_security_group" "web_nsg"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"${local.name_prefix}-nsg"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= azurerm_resource_group.my_rg.location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azurerm_resource_group.my_rg.name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"azurerm_subnet_network_security_group_association" "example"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            = azurerm_subnet.web_subnet.id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network_security_group_id = azurerm_network_security_group.web_nsg.id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5" name="Points"/>
          <p:cNvSpPr txBox="1"/>
          <p:nvPr/>
        </p:nvSpPr>
        <p:spPr>
          <a:xfrm>
            <a:off x="5760720" y="1097280"/>
            <a:ext cx="30175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NSG: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holds a list of allow/deny rules.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Association: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 separate resource that links NSG → subnet using their .id attributes.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Effect: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every VM in web_subnet is filtered by these rules.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Tip: the NSG here has no tags — add tags = local.project_tag for consistency.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7. NSG rules — allowing SSH (22) and HTTP (80)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Argument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Rule_port_22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Rule name inside the NSG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priority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100–4096; lower = evaluated first (22 → 100, 80 → 110)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Inbound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Traffic entering the subnet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Allow or Deny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protocol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Tcp, Udp, Icmp or *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source_port_range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Client ports — any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destination_port_range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 / 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Port on the target: SSH / HTTP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source_address_prefix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Any source IP (the internet!)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destination_address_prefix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Any destination in the subnet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resource_group_name / network_security_group_name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Attach rule to our NSG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8. Outputs</a:t>
            </a:r>
            <a:endParaRPr lang="en-US" sz="2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097280"/>
            <a:ext cx="4754880" cy="2743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"resource_group_name"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name of the resource group"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azurerm_resource_group.my_rg.name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"location"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name of the resource group location"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azurerm_resource_group.my_rg.location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Points"/>
          <p:cNvSpPr txBox="1"/>
          <p:nvPr/>
        </p:nvSpPr>
        <p:spPr>
          <a:xfrm>
            <a:off x="5394960" y="1097280"/>
            <a:ext cx="33832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value: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any expression; here read from the resource's attributes.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Source: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values come from the state file after the resource is created.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Use cases: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pass data between modules, feed pipelines, show IPs/IDs.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sensitive = true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hides secrets in CLI output.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Dependency graph &amp; execution order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137160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Resource Group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828800" y="17830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2148840" y="1371600"/>
            <a:ext cx="1371600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VNet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20440" y="17830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840480" y="1371600"/>
            <a:ext cx="1371600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Subnet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12080" y="17830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532120" y="1371600"/>
            <a:ext cx="1371600" cy="8229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NSG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7223760" y="1371600"/>
            <a:ext cx="1371600" cy="8229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Association</a:t>
            </a:r>
            <a:endParaRPr lang="en-US" sz="1200" dirty="0"/>
          </a:p>
        </p:txBody>
      </p:sp>
      <p:sp>
        <p:nvSpPr>
          <p:cNvPr id="13" name="Points"/>
          <p:cNvSpPr txBox="1"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Implicit: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created by referencing another resource's attribute — what this project uses.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Explicit: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depends_on = [ ... ] when no attribute reference exists.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Rules: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Rule_port_22 and Rule_port_80 depend on the RG and NSG; they run in parallel.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Destroy: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runs in reverse order (association → NSG → subnet → VNet → RG).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terraform graph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outputs the DAG in DOT format.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state file (terraform.tfstate)</a:t>
            </a:r>
            <a:endParaRPr lang="en-US" sz="26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What: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JSON mapping each resource address (azurerm_resource_group.my_rg) to the real Azure ID and all its attributes.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Why: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plan compares code ↔ state ↔ real world to compute the diff.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Outputs: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read from state, which is why output blocks can show RG name and location.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Local state: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fine for learning, but not for teams.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Remote backend: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Azure Storage account + container gives shared state, locking and versioning.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Security: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state can contain secrets — restrict access, never commit it to Git.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Never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edit by hand; use terraform state mv / rm / import.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Code review: issues to fix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Two resources share the label web_nsg_rule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Duplicate resource address — validate/plan errors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 unique labels: web_nsg_rule_22 and web_nsg_rule_80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 22 open to source 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Exposes SSH to the whole internet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Restrict to your office/VPN CIDR or use Bastion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Provider pinned to =5.0.0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Safe but blocks patch fixes; confirm that exact version exists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 ~&gt; with a lock file, or keep exact pin deliberately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NSG has no tags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Inconsistent governance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tags = local.project_tag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Comment says sap-dev-gopal-rg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Actual name is sap-dev-gopal_rg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Fix comment or default value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 code in one place / local 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Hard to maintain and share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Split into providers.tf, variables.tf, main.tf, outputs.tf; remote backend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Best practices &amp; summary</a:t>
            </a:r>
            <a:endParaRPr lang="en-US" sz="2600" dirty="0"/>
          </a:p>
        </p:txBody>
      </p:sp>
      <p:sp>
        <p:nvSpPr>
          <p:cNvPr id="3" name="Points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Structure: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providers.tf · variables.tf · locals.tf · main.tf · outputs.tf · terraform.tfvars.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Naming: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central name_prefix local keeps everything consistent.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Version control: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commit .tf and the lock file, not state or .terraform/.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Workflow: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fmt → validate → plan (review) → apply. Never apply blind.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Environments: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same code, different .tfvars (dev / test / prod).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Next steps: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modules, remote backend, count / for_each, data sources, CI/CD with plan on pull request.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formAzure">
  <a:themeElements>
    <a:clrScheme name="TerraformAzure">
      <a:dk1>
        <a:srgbClr val="1B1F3B"/>
      </a:dk1>
      <a:lt1>
        <a:srgbClr val="FFFFFF"/>
      </a:lt1>
      <a:dk2>
        <a:srgbClr val="2B2F5B"/>
      </a:dk2>
      <a:lt2>
        <a:srgbClr val="F3F0FA"/>
      </a:lt2>
      <a:accent1>
        <a:srgbClr val="7B42BC"/>
      </a:accent1>
      <a:accent2>
        <a:srgbClr val="0078D4"/>
      </a:accent2>
      <a:accent3>
        <a:srgbClr val="1A9E8F"/>
      </a:accent3>
      <a:accent4>
        <a:srgbClr val="E08A3C"/>
      </a:accent4>
      <a:accent5>
        <a:srgbClr val="D64550"/>
      </a:accent5>
      <a:accent6>
        <a:srgbClr val="6B7280"/>
      </a:accent6>
      <a:hlink>
        <a:srgbClr val="0078D4"/>
      </a:hlink>
      <a:folHlink>
        <a:srgbClr val="7B42BC"/>
      </a:folHlink>
    </a:clrScheme>
    <a:fontScheme name="TerraformAzur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on Azure - Deep Dive</dc:title>
  <dc:subject>PptxGenJS Presentation</dc:subject>
  <dc:creator>PptxGenJS</dc:creator>
  <cp:lastModifiedBy>PptxGenJS</cp:lastModifiedBy>
  <cp:revision>1</cp:revision>
  <dcterms:created xsi:type="dcterms:W3CDTF">2026-10-14T03:50:01Z</dcterms:created>
  <dcterms:modified xsi:type="dcterms:W3CDTF">2026-10-14T03:50:01Z</dcterms:modified>
</cp:coreProperties>
</file>