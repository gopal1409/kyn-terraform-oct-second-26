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457200"/>
            <a:ext cx="2377440" cy="2377440"/>
          </a:xfrm>
          <a:prstGeom prst="ellipse">
            <a:avLst/>
          </a:prstGeom>
          <a:solidFill>
            <a:srgbClr val="2A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2286000"/>
            <a:ext cx="1554480" cy="1554480"/>
          </a:xfrm>
          <a:prstGeom prst="ellipse">
            <a:avLst/>
          </a:prstGeom>
          <a:solidFill>
            <a:srgbClr val="279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3840480"/>
            <a:ext cx="2011680" cy="2011680"/>
          </a:xfrm>
          <a:prstGeom prst="ellipse">
            <a:avLst/>
          </a:prstGeom>
          <a:solidFill>
            <a:srgbClr val="264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22376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79FBE"/>
                </a:solidFill>
                <a:latin typeface="Aptos"/>
              </a:defRPr>
            </a:pPr>
            <a:r>
              <a:t>TERRAFORM ON AZURE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7680960" cy="1371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From Resource Group</a:t>
            </a:r>
          </a:p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to Network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57600"/>
            <a:ext cx="6766560" cy="822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DCE8F4"/>
                </a:solidFill>
                <a:latin typeface="Aptos"/>
              </a:defRPr>
            </a:pPr>
            <a:r>
              <a:t>A detailed walkthrough of locals, variables, resources, outputs,</a:t>
            </a:r>
          </a:p>
          <a:p>
            <a:pPr>
              <a:spcAft>
                <a:spcPts val="500"/>
              </a:spcAft>
              <a:defRPr sz="1700" b="0">
                <a:solidFill>
                  <a:srgbClr val="DCE8F4"/>
                </a:solidFill>
                <a:latin typeface="Aptos"/>
              </a:defRPr>
            </a:pPr>
            <a:r>
              <a:t>VNet, subnet, NSG rules, dependencies and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64008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CCFE2"/>
                </a:solidFill>
                <a:latin typeface="Aptos"/>
              </a:defRPr>
            </a:pPr>
            <a:r>
              <a:t>Training deck • AzureRM provider 5.0.0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263640"/>
            <a:ext cx="10972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D4E"/>
                </a:solidFill>
                <a:latin typeface="Aptos"/>
              </a:defRPr>
            </a:pPr>
            <a:r>
              <a:t>What you will 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Read the configuration as a connected infrastructure design, not isolated blocks.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60120" cy="54864"/>
          </a:xfrm>
          <a:prstGeom prst="rect">
            <a:avLst/>
          </a:prstGeom>
          <a:solidFill>
            <a:srgbClr val="279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A69AF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8755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9"/>
                </a:solidFill>
                <a:latin typeface="Aptos"/>
              </a:defRPr>
            </a:pPr>
            <a:r>
              <a:t>Terraform on Azure • Resource Group, VNet, Subnet &amp; NSG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B343E"/>
                </a:solidFill>
                <a:latin typeface="Aptos"/>
              </a:defRPr>
            </a:pPr>
            <a:r>
              <a:t>Understand Terraform configuration files and the AzureRM provider.</a:t>
            </a:r>
          </a:p>
          <a:p>
            <a:pPr>
              <a:spcAft>
                <a:spcPts val="900"/>
              </a:spcAft>
              <a:defRPr sz="1900">
                <a:solidFill>
                  <a:srgbClr val="2B343E"/>
                </a:solidFill>
                <a:latin typeface="Aptos"/>
              </a:defRPr>
            </a:pPr>
            <a:r>
              <a:t>Use input variables and locals to make names and tags consistent.</a:t>
            </a:r>
          </a:p>
          <a:p>
            <a:pPr>
              <a:spcAft>
                <a:spcPts val="900"/>
              </a:spcAft>
              <a:defRPr sz="1900">
                <a:solidFill>
                  <a:srgbClr val="2B343E"/>
                </a:solidFill>
                <a:latin typeface="Aptos"/>
              </a:defRPr>
            </a:pPr>
            <a:r>
              <a:t>Create a resource group, virtual network and subnet in Azure.</a:t>
            </a:r>
          </a:p>
          <a:p>
            <a:pPr>
              <a:spcAft>
                <a:spcPts val="900"/>
              </a:spcAft>
              <a:defRPr sz="1900">
                <a:solidFill>
                  <a:srgbClr val="2B343E"/>
                </a:solidFill>
                <a:latin typeface="Aptos"/>
              </a:defRPr>
            </a:pPr>
            <a:r>
              <a:t>Create an NSG, define inbound rules, and associate the NSG with a subnet.</a:t>
            </a:r>
          </a:p>
          <a:p>
            <a:pPr>
              <a:spcAft>
                <a:spcPts val="900"/>
              </a:spcAft>
              <a:defRPr sz="1900">
                <a:solidFill>
                  <a:srgbClr val="2B343E"/>
                </a:solidFill>
                <a:latin typeface="Aptos"/>
              </a:defRPr>
            </a:pPr>
            <a:r>
              <a:t>Understand references, dependency ordering, outputs and Terraform state.</a:t>
            </a:r>
          </a:p>
          <a:p>
            <a:pPr>
              <a:spcAft>
                <a:spcPts val="900"/>
              </a:spcAft>
              <a:defRPr sz="1900">
                <a:solidFill>
                  <a:srgbClr val="2B343E"/>
                </a:solidFill>
                <a:latin typeface="Aptos"/>
              </a:defRPr>
            </a:pPr>
            <a:r>
              <a:t>Fix configuration issues and apply security-minded defaults.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D4E"/>
                </a:solidFill>
                <a:latin typeface="Aptos"/>
              </a:defRPr>
            </a:pPr>
            <a:r>
              <a:t>Target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Terraform builds these Azure resources and connects them through references.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60120" cy="54864"/>
          </a:xfrm>
          <a:prstGeom prst="rect">
            <a:avLst/>
          </a:prstGeom>
          <a:solidFill>
            <a:srgbClr val="279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A69AF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8755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9"/>
                </a:solidFill>
                <a:latin typeface="Aptos"/>
              </a:defRPr>
            </a:pPr>
            <a:r>
              <a:t>Terraform on Azure • Resource Group, VNet, Subnet &amp; NSG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554480"/>
            <a:ext cx="4754880" cy="4206240"/>
          </a:xfrm>
          <a:prstGeom prst="roundRect">
            <a:avLst/>
          </a:prstGeom>
          <a:solidFill>
            <a:srgbClr val="162D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627632"/>
            <a:ext cx="457200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Resource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1965960"/>
            <a:ext cx="4535424" cy="374903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sap-dev-gopal_rg</a:t>
            </a:r>
          </a:p>
          <a:p>
            <a:pPr algn="ctr">
              <a:spcAft>
                <a:spcPts val="5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Location: eastus</a:t>
            </a:r>
          </a:p>
          <a:p>
            <a:pPr algn="ctr">
              <a:spcAft>
                <a:spcPts val="5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Tags: Project, Environment, ManagedBy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560320"/>
            <a:ext cx="3474720" cy="960120"/>
          </a:xfrm>
          <a:prstGeom prst="roundRect">
            <a:avLst/>
          </a:prstGeom>
          <a:solidFill>
            <a:srgbClr val="2A69A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633472"/>
            <a:ext cx="3291839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Virtual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971800"/>
            <a:ext cx="3255263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sap-dev-gopal-network</a:t>
            </a:r>
          </a:p>
          <a:p>
            <a:pPr algn="ctr">
              <a:spcAft>
                <a:spcPts val="5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10.0.0.0/16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886200"/>
            <a:ext cx="2926080" cy="868680"/>
          </a:xfrm>
          <a:prstGeom prst="roundRect">
            <a:avLst/>
          </a:prstGeom>
          <a:solidFill>
            <a:srgbClr val="35856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959352"/>
            <a:ext cx="274320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Web Subnet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4297680"/>
            <a:ext cx="2706624" cy="41147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sap-dev-web-subnet</a:t>
            </a:r>
          </a:p>
          <a:p>
            <a:pPr algn="ctr">
              <a:spcAft>
                <a:spcPts val="5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10.0.1.0/24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063240"/>
            <a:ext cx="2286000" cy="1097280"/>
          </a:xfrm>
          <a:prstGeom prst="roundRect">
            <a:avLst/>
          </a:prstGeom>
          <a:solidFill>
            <a:srgbClr val="DE84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36392"/>
            <a:ext cx="21031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Network Security 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474720"/>
            <a:ext cx="2066543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sap-dev-nsg</a:t>
            </a:r>
          </a:p>
          <a:p>
            <a:pPr algn="ctr">
              <a:spcAft>
                <a:spcPts val="5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Inbound rules: TCP 22, 80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971800" y="3063240"/>
            <a:ext cx="1325880" cy="548640"/>
          </a:xfrm>
          <a:prstGeom prst="line">
            <a:avLst/>
          </a:prstGeom>
          <a:ln w="25400">
            <a:solidFill>
              <a:srgbClr val="5F6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35040" y="3520440"/>
            <a:ext cx="0" cy="365760"/>
          </a:xfrm>
          <a:prstGeom prst="line">
            <a:avLst/>
          </a:prstGeom>
          <a:ln w="25400">
            <a:solidFill>
              <a:srgbClr val="5F6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971800" y="3611880"/>
            <a:ext cx="1600200" cy="685800"/>
          </a:xfrm>
          <a:prstGeom prst="line">
            <a:avLst/>
          </a:prstGeom>
          <a:ln w="25400">
            <a:solidFill>
              <a:srgbClr val="5F6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4846320"/>
            <a:ext cx="256032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5F6C79"/>
                </a:solidFill>
                <a:latin typeface="Aptos"/>
              </a:defRPr>
            </a:pPr>
            <a:r>
              <a:t>Association binds the NSG</a:t>
            </a:r>
          </a:p>
          <a:p>
            <a:pPr>
              <a:spcAft>
                <a:spcPts val="500"/>
              </a:spcAft>
              <a:defRPr sz="1200" b="1">
                <a:solidFill>
                  <a:srgbClr val="5F6C79"/>
                </a:solidFill>
                <a:latin typeface="Aptos"/>
              </a:defRPr>
            </a:pPr>
            <a:r>
              <a:t>to the subnet.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D4E"/>
                </a:solidFill>
                <a:latin typeface="Aptos"/>
              </a:defRPr>
            </a:pPr>
            <a:r>
              <a:t>How the files fit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Terraform loads all .tf files in one directory as a single module.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60120" cy="54864"/>
          </a:xfrm>
          <a:prstGeom prst="rect">
            <a:avLst/>
          </a:prstGeom>
          <a:solidFill>
            <a:srgbClr val="279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A69AF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8755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9"/>
                </a:solidFill>
                <a:latin typeface="Aptos"/>
              </a:defRPr>
            </a:pPr>
            <a:r>
              <a:t>Terraform on Azure • Resource Group, VNet, Subnet &amp; NSG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2743200" cy="141732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508760"/>
            <a:ext cx="82296" cy="1417320"/>
          </a:xfrm>
          <a:prstGeom prst="rect">
            <a:avLst/>
          </a:prstGeom>
          <a:solidFill>
            <a:srgbClr val="2A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45919"/>
            <a:ext cx="24231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D4E"/>
                </a:solidFill>
                <a:latin typeface="Aptos"/>
              </a:defRPr>
            </a:pPr>
            <a:r>
              <a:t>provider.tf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75688"/>
            <a:ext cx="2423160" cy="75895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B343E"/>
                </a:solidFill>
                <a:latin typeface="Aptos"/>
              </a:defRPr>
            </a:pPr>
            <a:r>
              <a:t>Required provider source/version and Azure authentication context.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508760"/>
            <a:ext cx="2743200" cy="141732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1508760"/>
            <a:ext cx="82296" cy="1417320"/>
          </a:xfrm>
          <a:prstGeom prst="rect">
            <a:avLst/>
          </a:prstGeom>
          <a:solidFill>
            <a:srgbClr val="279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645919"/>
            <a:ext cx="24231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D4E"/>
                </a:solidFill>
                <a:latin typeface="Aptos"/>
              </a:defRPr>
            </a:pPr>
            <a:r>
              <a:t>variables.tf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075688"/>
            <a:ext cx="2423160" cy="75895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B343E"/>
                </a:solidFill>
                <a:latin typeface="Aptos"/>
              </a:defRPr>
            </a:pPr>
            <a:r>
              <a:t>Inputs such as project_name, environment, location and CIDRs.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508760"/>
            <a:ext cx="2423160" cy="141732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1508760"/>
            <a:ext cx="82296" cy="1417320"/>
          </a:xfrm>
          <a:prstGeom prst="rect">
            <a:avLst/>
          </a:prstGeom>
          <a:solidFill>
            <a:srgbClr val="358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645919"/>
            <a:ext cx="210312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D4E"/>
                </a:solidFill>
                <a:latin typeface="Aptos"/>
              </a:defRPr>
            </a:pPr>
            <a:r>
              <a:t>locals.tf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075688"/>
            <a:ext cx="2103120" cy="75895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B343E"/>
                </a:solidFill>
                <a:latin typeface="Aptos"/>
              </a:defRPr>
            </a:pPr>
            <a:r>
              <a:t>Derived values: name_prefix and shared tags.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508760"/>
            <a:ext cx="2514600" cy="141732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1508760"/>
            <a:ext cx="82296" cy="1417320"/>
          </a:xfrm>
          <a:prstGeom prst="rect">
            <a:avLst/>
          </a:prstGeom>
          <a:solidFill>
            <a:srgbClr val="DE8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645919"/>
            <a:ext cx="21945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D4E"/>
                </a:solidFill>
                <a:latin typeface="Aptos"/>
              </a:defRPr>
            </a:pPr>
            <a:r>
              <a:t>resources.tf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075688"/>
            <a:ext cx="2194560" cy="75895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B343E"/>
                </a:solidFill>
                <a:latin typeface="Aptos"/>
              </a:defRPr>
            </a:pPr>
            <a:r>
              <a:t>Azure resource blocks and references between them.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57400" y="3383280"/>
            <a:ext cx="3200400" cy="141732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57400" y="3383280"/>
            <a:ext cx="82296" cy="1417320"/>
          </a:xfrm>
          <a:prstGeom prst="rect">
            <a:avLst/>
          </a:prstGeom>
          <a:solidFill>
            <a:srgbClr val="2A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0280" y="3520440"/>
            <a:ext cx="28803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D4E"/>
                </a:solidFill>
                <a:latin typeface="Aptos"/>
              </a:defRPr>
            </a:pPr>
            <a:r>
              <a:t>outputs.tf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50208"/>
            <a:ext cx="2880360" cy="75895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B343E"/>
                </a:solidFill>
                <a:latin typeface="Aptos"/>
              </a:defRPr>
            </a:pPr>
            <a:r>
              <a:t>Print selected values after apply, such as resource group and location.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0" y="3383280"/>
            <a:ext cx="3931920" cy="141732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15000" y="3383280"/>
            <a:ext cx="82296" cy="1417320"/>
          </a:xfrm>
          <a:prstGeom prst="rect">
            <a:avLst/>
          </a:prstGeom>
          <a:solidFill>
            <a:srgbClr val="B8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97880" y="3520440"/>
            <a:ext cx="36118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D4E"/>
                </a:solidFill>
                <a:latin typeface="Aptos"/>
              </a:defRPr>
            </a:pPr>
            <a:r>
              <a:t>terraform.tfstate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3950208"/>
            <a:ext cx="3611879" cy="75895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B343E"/>
                </a:solidFill>
                <a:latin typeface="Aptos"/>
              </a:defRPr>
            </a:pPr>
            <a:r>
              <a:t>Terraform's mapping of configuration addresses to real Azure objects.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303520"/>
            <a:ext cx="102412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C79"/>
                </a:solidFill>
                <a:latin typeface="Aptos"/>
              </a:defRPr>
            </a:pPr>
            <a:r>
              <a:t>File names are a convention. Terraform does not require one resource per file; all .tf files in the working directory are evaluated together.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D4E"/>
                </a:solidFill>
                <a:latin typeface="Aptos"/>
              </a:defRPr>
            </a:pPr>
            <a:r>
              <a:t>1. Provider and version pinning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The provider is Terraform's plugin for communicating with Azure Resource Manager.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60120" cy="54864"/>
          </a:xfrm>
          <a:prstGeom prst="rect">
            <a:avLst/>
          </a:prstGeom>
          <a:solidFill>
            <a:srgbClr val="279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A69AF"/>
                </a:solidFill>
                <a:latin typeface="Aptos"/>
              </a:defRPr>
            </a:pPr>
            <a:r>
              <a:t>PROVIDER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8755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9"/>
                </a:solidFill>
                <a:latin typeface="Aptos"/>
              </a:defRPr>
            </a:pPr>
            <a:r>
              <a:t>Terraform on Azure • Resource Group, VNet, Subnet &amp; NSG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669280" cy="429768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terraform {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required_providers {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  azurerm = {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    source  = "hashicorp/azurerm"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    version = "= 5.0.0"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provider "azurerm" {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features {}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508760"/>
            <a:ext cx="493776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B343E"/>
                </a:solidFill>
                <a:latin typeface="Aptos"/>
              </a:defRPr>
            </a:pPr>
            <a:r>
              <a:t>`required_providers` declares the provider source and acceptable version.</a:t>
            </a:r>
          </a:p>
          <a:p>
            <a:pPr>
              <a:spcAft>
                <a:spcPts val="700"/>
              </a:spcAft>
              <a:defRPr sz="1500">
                <a:solidFill>
                  <a:srgbClr val="2B343E"/>
                </a:solidFill>
                <a:latin typeface="Aptos"/>
              </a:defRPr>
            </a:pPr>
            <a:r>
              <a:t>`= 5.0.0` pins exactly that version; test upgrades deliberately.</a:t>
            </a:r>
          </a:p>
          <a:p>
            <a:pPr>
              <a:spcAft>
                <a:spcPts val="700"/>
              </a:spcAft>
              <a:defRPr sz="1500">
                <a:solidFill>
                  <a:srgbClr val="2B343E"/>
                </a:solidFill>
                <a:latin typeface="Aptos"/>
              </a:defRPr>
            </a:pPr>
            <a:r>
              <a:t>`provider "azurerm"` configures the provider instance.</a:t>
            </a:r>
          </a:p>
          <a:p>
            <a:pPr>
              <a:spcAft>
                <a:spcPts val="700"/>
              </a:spcAft>
              <a:defRPr sz="1500">
                <a:solidFill>
                  <a:srgbClr val="2B343E"/>
                </a:solidFill>
                <a:latin typeface="Aptos"/>
              </a:defRPr>
            </a:pPr>
            <a:r>
              <a:t>`features {}` is required by the AzureRM provider configuration.</a:t>
            </a:r>
          </a:p>
          <a:p>
            <a:pPr>
              <a:spcAft>
                <a:spcPts val="700"/>
              </a:spcAft>
              <a:defRPr sz="1500">
                <a:solidFill>
                  <a:srgbClr val="2B343E"/>
                </a:solidFill>
                <a:latin typeface="Aptos"/>
              </a:defRPr>
            </a:pPr>
            <a:r>
              <a:t>Authenticate through Azure CLI, a service principal, or workload identity; avoid hard-coded secrets.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D4E"/>
                </a:solidFill>
                <a:latin typeface="Aptos"/>
              </a:defRPr>
            </a:pPr>
            <a:r>
              <a:t>2. Input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Variables make the same module reusable across projects and environments.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60120" cy="54864"/>
          </a:xfrm>
          <a:prstGeom prst="rect">
            <a:avLst/>
          </a:prstGeom>
          <a:solidFill>
            <a:srgbClr val="279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A69AF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8755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9"/>
                </a:solidFill>
                <a:latin typeface="Aptos"/>
              </a:defRPr>
            </a:pPr>
            <a:r>
              <a:t>Terraform on Azure • Resource Group, VNet, Subnet &amp; NSG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943600" cy="475488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spcAft>
                <a:spcPts val="0"/>
              </a:spcAft>
              <a:defRPr sz="1300">
                <a:solidFill>
                  <a:srgbClr val="162D4E"/>
                </a:solidFill>
                <a:latin typeface="Cascadia Code"/>
              </a:defRPr>
            </a:pPr>
            <a:r>
              <a:t>variable "project_name" {</a:t>
            </a:r>
          </a:p>
          <a:p>
            <a:pPr>
              <a:spcAft>
                <a:spcPts val="0"/>
              </a:spcAft>
              <a:defRPr sz="1300">
                <a:solidFill>
                  <a:srgbClr val="162D4E"/>
                </a:solidFill>
                <a:latin typeface="Cascadia Code"/>
              </a:defRPr>
            </a:pPr>
            <a:r>
              <a:t>  description = "The name of the project"</a:t>
            </a:r>
          </a:p>
          <a:p>
            <a:pPr>
              <a:spcAft>
                <a:spcPts val="0"/>
              </a:spcAft>
              <a:defRPr sz="1300">
                <a:solidFill>
                  <a:srgbClr val="162D4E"/>
                </a:solidFill>
                <a:latin typeface="Cascadia Code"/>
              </a:defRPr>
            </a:pPr>
            <a:r>
              <a:t>  type        = string</a:t>
            </a:r>
          </a:p>
          <a:p>
            <a:pPr>
              <a:spcAft>
                <a:spcPts val="0"/>
              </a:spcAft>
              <a:defRPr sz="1300">
                <a:solidFill>
                  <a:srgbClr val="162D4E"/>
                </a:solidFill>
                <a:latin typeface="Cascadia Code"/>
              </a:defRPr>
            </a:pPr>
            <a:r>
              <a:t>  default     = "sap"</a:t>
            </a:r>
          </a:p>
          <a:p>
            <a:pPr>
              <a:spcAft>
                <a:spcPts val="0"/>
              </a:spcAft>
              <a:defRPr sz="1300">
                <a:solidFill>
                  <a:srgbClr val="162D4E"/>
                </a:solidFill>
                <a:latin typeface="Cascadia Code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300">
                <a:solidFill>
                  <a:srgbClr val="162D4E"/>
                </a:solidFill>
                <a:latin typeface="Cascadia Code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162D4E"/>
                </a:solidFill>
                <a:latin typeface="Cascadia Code"/>
              </a:defRPr>
            </a:pPr>
            <a:r>
              <a:t>variable "environment" {</a:t>
            </a:r>
          </a:p>
          <a:p>
            <a:pPr>
              <a:spcAft>
                <a:spcPts val="0"/>
              </a:spcAft>
              <a:defRPr sz="1300">
                <a:solidFill>
                  <a:srgbClr val="162D4E"/>
                </a:solidFill>
                <a:latin typeface="Cascadia Code"/>
              </a:defRPr>
            </a:pPr>
            <a:r>
              <a:t>  description = "The environment of the project"</a:t>
            </a:r>
          </a:p>
          <a:p>
            <a:pPr>
              <a:spcAft>
                <a:spcPts val="0"/>
              </a:spcAft>
              <a:defRPr sz="1300">
                <a:solidFill>
                  <a:srgbClr val="162D4E"/>
                </a:solidFill>
                <a:latin typeface="Cascadia Code"/>
              </a:defRPr>
            </a:pPr>
            <a:r>
              <a:t>  type        = string</a:t>
            </a:r>
          </a:p>
          <a:p>
            <a:pPr>
              <a:spcAft>
                <a:spcPts val="0"/>
              </a:spcAft>
              <a:defRPr sz="1300">
                <a:solidFill>
                  <a:srgbClr val="162D4E"/>
                </a:solidFill>
                <a:latin typeface="Cascadia Code"/>
              </a:defRPr>
            </a:pPr>
            <a:r>
              <a:t>  default     = "dev"</a:t>
            </a:r>
          </a:p>
          <a:p>
            <a:pPr>
              <a:spcAft>
                <a:spcPts val="0"/>
              </a:spcAft>
              <a:defRPr sz="1300">
                <a:solidFill>
                  <a:srgbClr val="162D4E"/>
                </a:solidFill>
                <a:latin typeface="Cascadia Code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300">
                <a:solidFill>
                  <a:srgbClr val="162D4E"/>
                </a:solidFill>
                <a:latin typeface="Cascadia Code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162D4E"/>
                </a:solidFill>
                <a:latin typeface="Cascadia Code"/>
              </a:defRPr>
            </a:pPr>
            <a:r>
              <a:t>variable "location" {</a:t>
            </a:r>
          </a:p>
          <a:p>
            <a:pPr>
              <a:spcAft>
                <a:spcPts val="0"/>
              </a:spcAft>
              <a:defRPr sz="1300">
                <a:solidFill>
                  <a:srgbClr val="162D4E"/>
                </a:solidFill>
                <a:latin typeface="Cascadia Code"/>
              </a:defRPr>
            </a:pPr>
            <a:r>
              <a:t>  description = "Azure region"</a:t>
            </a:r>
          </a:p>
          <a:p>
            <a:pPr>
              <a:spcAft>
                <a:spcPts val="0"/>
              </a:spcAft>
              <a:defRPr sz="1300">
                <a:solidFill>
                  <a:srgbClr val="162D4E"/>
                </a:solidFill>
                <a:latin typeface="Cascadia Code"/>
              </a:defRPr>
            </a:pPr>
            <a:r>
              <a:t>  type        = string</a:t>
            </a:r>
          </a:p>
          <a:p>
            <a:pPr>
              <a:spcAft>
                <a:spcPts val="0"/>
              </a:spcAft>
              <a:defRPr sz="1300">
                <a:solidFill>
                  <a:srgbClr val="162D4E"/>
                </a:solidFill>
                <a:latin typeface="Cascadia Code"/>
              </a:defRPr>
            </a:pPr>
            <a:r>
              <a:t>  default     = "eastus"</a:t>
            </a:r>
          </a:p>
          <a:p>
            <a:pPr>
              <a:spcAft>
                <a:spcPts val="0"/>
              </a:spcAft>
              <a:defRPr sz="1300">
                <a:solidFill>
                  <a:srgbClr val="162D4E"/>
                </a:solidFill>
                <a:latin typeface="Cascadia Code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300">
                <a:solidFill>
                  <a:srgbClr val="162D4E"/>
                </a:solidFill>
                <a:latin typeface="Cascadia Code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162D4E"/>
                </a:solidFill>
                <a:latin typeface="Cascadia Code"/>
              </a:defRPr>
            </a:pPr>
            <a:r>
              <a:t>variable "vnet_address_space" {</a:t>
            </a:r>
          </a:p>
          <a:p>
            <a:pPr>
              <a:spcAft>
                <a:spcPts val="0"/>
              </a:spcAft>
              <a:defRPr sz="1300">
                <a:solidFill>
                  <a:srgbClr val="162D4E"/>
                </a:solidFill>
                <a:latin typeface="Cascadia Code"/>
              </a:defRPr>
            </a:pPr>
            <a:r>
              <a:t>  type    = list(string)</a:t>
            </a:r>
          </a:p>
          <a:p>
            <a:pPr>
              <a:spcAft>
                <a:spcPts val="0"/>
              </a:spcAft>
              <a:defRPr sz="1300">
                <a:solidFill>
                  <a:srgbClr val="162D4E"/>
                </a:solidFill>
                <a:latin typeface="Cascadia Code"/>
              </a:defRPr>
            </a:pPr>
            <a:r>
              <a:t>  default = ["10.0.0.0/16"]</a:t>
            </a:r>
          </a:p>
          <a:p>
            <a:pPr>
              <a:spcAft>
                <a:spcPts val="0"/>
              </a:spcAft>
              <a:defRPr sz="1300">
                <a:solidFill>
                  <a:srgbClr val="162D4E"/>
                </a:solidFill>
                <a:latin typeface="Cascadia Code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554480"/>
            <a:ext cx="4754880" cy="4297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B343E"/>
                </a:solidFill>
                <a:latin typeface="Aptos"/>
              </a:defRPr>
            </a:pPr>
            <a:r>
              <a:t>`variable` declares an input interface.</a:t>
            </a:r>
          </a:p>
          <a:p>
            <a:pPr>
              <a:spcAft>
                <a:spcPts val="800"/>
              </a:spcAft>
              <a:defRPr sz="1500">
                <a:solidFill>
                  <a:srgbClr val="2B343E"/>
                </a:solidFill>
                <a:latin typeface="Aptos"/>
              </a:defRPr>
            </a:pPr>
            <a:r>
              <a:t>`type` enables validation and catches wrong input shapes.</a:t>
            </a:r>
          </a:p>
          <a:p>
            <a:pPr>
              <a:spcAft>
                <a:spcPts val="800"/>
              </a:spcAft>
              <a:defRPr sz="1500">
                <a:solidFill>
                  <a:srgbClr val="2B343E"/>
                </a:solidFill>
                <a:latin typeface="Aptos"/>
              </a:defRPr>
            </a:pPr>
            <a:r>
              <a:t>`default` makes an input optional at runtime.</a:t>
            </a:r>
          </a:p>
          <a:p>
            <a:pPr>
              <a:spcAft>
                <a:spcPts val="800"/>
              </a:spcAft>
              <a:defRPr sz="1500">
                <a:solidFill>
                  <a:srgbClr val="2B343E"/>
                </a:solidFill>
                <a:latin typeface="Aptos"/>
              </a:defRPr>
            </a:pPr>
            <a:r>
              <a:t>`list(string)` means an ordered list of strings; Azure address_space accepts a list.</a:t>
            </a:r>
          </a:p>
          <a:p>
            <a:pPr>
              <a:spcAft>
                <a:spcPts val="800"/>
              </a:spcAft>
              <a:defRPr sz="1500">
                <a:solidFill>
                  <a:srgbClr val="2B343E"/>
                </a:solidFill>
                <a:latin typeface="Aptos"/>
              </a:defRPr>
            </a:pPr>
            <a:r>
              <a:t>Override defaults with a .tfvars file, -var, or environment variables.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D4E"/>
                </a:solidFill>
                <a:latin typeface="Aptos"/>
              </a:defRPr>
            </a:pPr>
            <a:r>
              <a:t>3. Network input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Names and CIDR ranges are kept separate from resource definitions.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60120" cy="54864"/>
          </a:xfrm>
          <a:prstGeom prst="rect">
            <a:avLst/>
          </a:prstGeom>
          <a:solidFill>
            <a:srgbClr val="279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A69AF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8755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9"/>
                </a:solidFill>
                <a:latin typeface="Aptos"/>
              </a:defRPr>
            </a:pPr>
            <a:r>
              <a:t>Terraform on Azure • Resource Group, VNet, Subnet &amp; NSG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669280" cy="466344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variable "resource_group_name" {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  type    = string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  default = "gopal_rg"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variable "vnet_name" {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  type    = string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  default = "gopal-network"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variable "subnet_name" {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  type    = string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  default = "web-subnet"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variable "subnet_address_prefixes" {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  type    = list(string)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  default = ["10.0.1.0/24"]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645920"/>
            <a:ext cx="4754880" cy="118872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0" y="1645920"/>
            <a:ext cx="82296" cy="1188720"/>
          </a:xfrm>
          <a:prstGeom prst="rect">
            <a:avLst/>
          </a:prstGeom>
          <a:solidFill>
            <a:srgbClr val="2A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783080"/>
            <a:ext cx="443484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D4E"/>
                </a:solidFill>
                <a:latin typeface="Aptos"/>
              </a:defRPr>
            </a:pPr>
            <a:r>
              <a:t>VNet CIDR: 10.0.0.0/16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212848"/>
            <a:ext cx="4434840" cy="53035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B343E"/>
                </a:solidFill>
                <a:latin typeface="Aptos"/>
              </a:defRPr>
            </a:pPr>
            <a:r>
              <a:t>Provides the overall private address space.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3063240"/>
            <a:ext cx="4754880" cy="118872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29400" y="3063240"/>
            <a:ext cx="82296" cy="1188720"/>
          </a:xfrm>
          <a:prstGeom prst="rect">
            <a:avLst/>
          </a:prstGeom>
          <a:solidFill>
            <a:srgbClr val="358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3200400"/>
            <a:ext cx="443484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D4E"/>
                </a:solidFill>
                <a:latin typeface="Aptos"/>
              </a:defRPr>
            </a:pPr>
            <a:r>
              <a:t>Subnet CIDR: 10.0.1.0/24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630168"/>
            <a:ext cx="4434840" cy="53035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B343E"/>
                </a:solidFill>
                <a:latin typeface="Aptos"/>
              </a:defRPr>
            </a:pPr>
            <a:r>
              <a:t>A smaller range inside the VNet; must not overlap other subnets.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4480560"/>
            <a:ext cx="4754880" cy="105156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4480560"/>
            <a:ext cx="82296" cy="1051560"/>
          </a:xfrm>
          <a:prstGeom prst="rect">
            <a:avLst/>
          </a:prstGeom>
          <a:solidFill>
            <a:srgbClr val="DE8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4617720"/>
            <a:ext cx="443484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D4E"/>
                </a:solidFill>
                <a:latin typeface="Aptos"/>
              </a:defRPr>
            </a:pPr>
            <a:r>
              <a:t>Important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047488"/>
            <a:ext cx="4434840" cy="393191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B343E"/>
                </a:solidFill>
                <a:latin typeface="Aptos"/>
              </a:defRPr>
            </a:pPr>
            <a:r>
              <a:t>The subnet prefix must fit inside the VNet address space.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D4E"/>
                </a:solidFill>
                <a:latin typeface="Aptos"/>
              </a:defRPr>
            </a:pPr>
            <a:r>
              <a:t>4. Locals: reusable expressions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A local is a calculated value inside the module, not an input from the caller.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60120" cy="54864"/>
          </a:xfrm>
          <a:prstGeom prst="rect">
            <a:avLst/>
          </a:prstGeom>
          <a:solidFill>
            <a:srgbClr val="279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A69AF"/>
                </a:solidFill>
                <a:latin typeface="Aptos"/>
              </a:defRPr>
            </a:pPr>
            <a:r>
              <a:t>LOCALS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8755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9"/>
                </a:solidFill>
                <a:latin typeface="Aptos"/>
              </a:defRPr>
            </a:pPr>
            <a:r>
              <a:t>Terraform on Azure • Resource Group, VNet, Subnet &amp; NSG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760720" cy="310896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spcAft>
                <a:spcPts val="0"/>
              </a:spcAft>
              <a:defRPr sz="1600">
                <a:solidFill>
                  <a:srgbClr val="162D4E"/>
                </a:solidFill>
                <a:latin typeface="Cascadia Code"/>
              </a:defRPr>
            </a:pPr>
            <a:r>
              <a:t>locals {</a:t>
            </a:r>
          </a:p>
          <a:p>
            <a:pPr>
              <a:spcAft>
                <a:spcPts val="0"/>
              </a:spcAft>
              <a:defRPr sz="1600">
                <a:solidFill>
                  <a:srgbClr val="162D4E"/>
                </a:solidFill>
                <a:latin typeface="Cascadia Code"/>
              </a:defRPr>
            </a:pPr>
            <a:r>
              <a:t>  name_prefix = "${var.project_name}-${var.environment}"</a:t>
            </a:r>
          </a:p>
          <a:p>
            <a:pPr>
              <a:spcAft>
                <a:spcPts val="0"/>
              </a:spcAft>
              <a:defRPr sz="1600">
                <a:solidFill>
                  <a:srgbClr val="162D4E"/>
                </a:solidFill>
                <a:latin typeface="Cascadia Code"/>
              </a:defRPr>
            </a:pPr>
          </a:p>
          <a:p>
            <a:pPr>
              <a:spcAft>
                <a:spcPts val="0"/>
              </a:spcAft>
              <a:defRPr sz="1600">
                <a:solidFill>
                  <a:srgbClr val="162D4E"/>
                </a:solidFill>
                <a:latin typeface="Cascadia Code"/>
              </a:defRPr>
            </a:pPr>
            <a:r>
              <a:t>  project_tag = {</a:t>
            </a:r>
          </a:p>
          <a:p>
            <a:pPr>
              <a:spcAft>
                <a:spcPts val="0"/>
              </a:spcAft>
              <a:defRPr sz="1600">
                <a:solidFill>
                  <a:srgbClr val="162D4E"/>
                </a:solidFill>
                <a:latin typeface="Cascadia Code"/>
              </a:defRPr>
            </a:pPr>
            <a:r>
              <a:t>    Project     = var.project_name</a:t>
            </a:r>
          </a:p>
          <a:p>
            <a:pPr>
              <a:spcAft>
                <a:spcPts val="0"/>
              </a:spcAft>
              <a:defRPr sz="1600">
                <a:solidFill>
                  <a:srgbClr val="162D4E"/>
                </a:solidFill>
                <a:latin typeface="Cascadia Code"/>
              </a:defRPr>
            </a:pPr>
            <a:r>
              <a:t>    Environment = var.environment</a:t>
            </a:r>
          </a:p>
          <a:p>
            <a:pPr>
              <a:spcAft>
                <a:spcPts val="0"/>
              </a:spcAft>
              <a:defRPr sz="1600">
                <a:solidFill>
                  <a:srgbClr val="162D4E"/>
                </a:solidFill>
                <a:latin typeface="Cascadia Code"/>
              </a:defRPr>
            </a:pPr>
            <a:r>
              <a:t>    ManagedBy   = "Kyn-dev-team01"</a:t>
            </a:r>
          </a:p>
          <a:p>
            <a:pPr>
              <a:spcAft>
                <a:spcPts val="0"/>
              </a:spcAft>
              <a:defRPr sz="1600">
                <a:solidFill>
                  <a:srgbClr val="162D4E"/>
                </a:solidFill>
                <a:latin typeface="Cascadia Code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600">
                <a:solidFill>
                  <a:srgbClr val="162D4E"/>
                </a:solidFill>
                <a:latin typeface="Cascadia Code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600200"/>
            <a:ext cx="4572000" cy="114300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1600200"/>
            <a:ext cx="82296" cy="1143000"/>
          </a:xfrm>
          <a:prstGeom prst="rect">
            <a:avLst/>
          </a:prstGeom>
          <a:solidFill>
            <a:srgbClr val="2A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737360"/>
            <a:ext cx="42519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D4E"/>
                </a:solidFill>
                <a:latin typeface="Aptos"/>
              </a:defRPr>
            </a:pPr>
            <a:r>
              <a:t>name_prefix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167128"/>
            <a:ext cx="4251960" cy="4846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B343E"/>
                </a:solidFill>
                <a:latin typeface="Aptos"/>
              </a:defRPr>
            </a:pPr>
            <a:r>
              <a:t>With defaults: sap-dev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971800"/>
            <a:ext cx="4572000" cy="141732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20840" y="2971800"/>
            <a:ext cx="82296" cy="1417320"/>
          </a:xfrm>
          <a:prstGeom prst="rect">
            <a:avLst/>
          </a:prstGeom>
          <a:solidFill>
            <a:srgbClr val="358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3108960"/>
            <a:ext cx="42519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D4E"/>
                </a:solidFill>
                <a:latin typeface="Aptos"/>
              </a:defRPr>
            </a:pPr>
            <a:r>
              <a:t>project_tag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538728"/>
            <a:ext cx="4251960" cy="75895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B343E"/>
                </a:solidFill>
                <a:latin typeface="Aptos"/>
              </a:defRPr>
            </a:pPr>
            <a:r>
              <a:t>A map/object of tag key-value pairs passed to resources that support tags.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83480"/>
            <a:ext cx="10515600" cy="822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D4E"/>
                </a:solidFill>
                <a:latin typeface="Aptos"/>
              </a:defRPr>
            </a:pPr>
            <a:r>
              <a:t>Use locals for derived values repeated in multiple places. Use variables for values that should be configurable by the person running Terraform.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D4E"/>
                </a:solidFill>
                <a:latin typeface="Aptos"/>
              </a:defRPr>
            </a:pPr>
            <a:r>
              <a:t>5. Resource Group resource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The resource block declares the desired Azure object.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60120" cy="54864"/>
          </a:xfrm>
          <a:prstGeom prst="rect">
            <a:avLst/>
          </a:prstGeom>
          <a:solidFill>
            <a:srgbClr val="279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A69AF"/>
                </a:solidFill>
                <a:latin typeface="Aptos"/>
              </a:defRPr>
            </a:pPr>
            <a:r>
              <a:t>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8755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9"/>
                </a:solidFill>
                <a:latin typeface="Aptos"/>
              </a:defRPr>
            </a:pPr>
            <a:r>
              <a:t>Terraform on Azure • Resource Group, VNet, Subnet &amp; NSG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577840" cy="246888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spcAft>
                <a:spcPts val="0"/>
              </a:spcAft>
              <a:defRPr sz="1600">
                <a:solidFill>
                  <a:srgbClr val="162D4E"/>
                </a:solidFill>
                <a:latin typeface="Cascadia Code"/>
              </a:defRPr>
            </a:pPr>
            <a:r>
              <a:t>resource "azurerm_resource_group" "my_rg" {</a:t>
            </a:r>
          </a:p>
          <a:p>
            <a:pPr>
              <a:spcAft>
                <a:spcPts val="0"/>
              </a:spcAft>
              <a:defRPr sz="1600">
                <a:solidFill>
                  <a:srgbClr val="162D4E"/>
                </a:solidFill>
                <a:latin typeface="Cascadia Code"/>
              </a:defRPr>
            </a:pPr>
            <a:r>
              <a:t>  name     = "${local.name_prefix}-${var.resource_group_name}"</a:t>
            </a:r>
          </a:p>
          <a:p>
            <a:pPr>
              <a:spcAft>
                <a:spcPts val="0"/>
              </a:spcAft>
              <a:defRPr sz="1600">
                <a:solidFill>
                  <a:srgbClr val="162D4E"/>
                </a:solidFill>
                <a:latin typeface="Cascadia Code"/>
              </a:defRPr>
            </a:pPr>
            <a:r>
              <a:t>  location = var.location</a:t>
            </a:r>
          </a:p>
          <a:p>
            <a:pPr>
              <a:spcAft>
                <a:spcPts val="0"/>
              </a:spcAft>
              <a:defRPr sz="1600">
                <a:solidFill>
                  <a:srgbClr val="162D4E"/>
                </a:solidFill>
                <a:latin typeface="Cascadia Code"/>
              </a:defRPr>
            </a:pPr>
            <a:r>
              <a:t>  tags     = local.project_tag</a:t>
            </a:r>
          </a:p>
          <a:p>
            <a:pPr>
              <a:spcAft>
                <a:spcPts val="0"/>
              </a:spcAft>
              <a:defRPr sz="1600">
                <a:solidFill>
                  <a:srgbClr val="162D4E"/>
                </a:solidFill>
                <a:latin typeface="Cascadia Code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12064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B343E"/>
                </a:solidFill>
                <a:latin typeface="Aptos"/>
              </a:defRPr>
            </a:pPr>
            <a:r>
              <a:t>`resource` is the Terraform block type.</a:t>
            </a:r>
          </a:p>
          <a:p>
            <a:pPr>
              <a:spcAft>
                <a:spcPts val="700"/>
              </a:spcAft>
              <a:defRPr sz="1500">
                <a:solidFill>
                  <a:srgbClr val="2B343E"/>
                </a:solidFill>
                <a:latin typeface="Aptos"/>
              </a:defRPr>
            </a:pPr>
            <a:r>
              <a:t>`azurerm_resource_group` is the provider resource type.</a:t>
            </a:r>
          </a:p>
          <a:p>
            <a:pPr>
              <a:spcAft>
                <a:spcPts val="700"/>
              </a:spcAft>
              <a:defRPr sz="1500">
                <a:solidFill>
                  <a:srgbClr val="2B343E"/>
                </a:solidFill>
                <a:latin typeface="Aptos"/>
              </a:defRPr>
            </a:pPr>
            <a:r>
              <a:t>`my_rg` is the Terraform-local resource label, used in references.</a:t>
            </a:r>
          </a:p>
          <a:p>
            <a:pPr>
              <a:spcAft>
                <a:spcPts val="700"/>
              </a:spcAft>
              <a:defRPr sz="1500">
                <a:solidFill>
                  <a:srgbClr val="2B343E"/>
                </a:solidFill>
                <a:latin typeface="Aptos"/>
              </a:defRPr>
            </a:pPr>
            <a:r>
              <a:t>`name` becomes `sap-dev-gopal_rg` with the supplied defaults.</a:t>
            </a:r>
          </a:p>
          <a:p>
            <a:pPr>
              <a:spcAft>
                <a:spcPts val="700"/>
              </a:spcAft>
              <a:defRPr sz="1500">
                <a:solidFill>
                  <a:srgbClr val="2B343E"/>
                </a:solidFill>
                <a:latin typeface="Aptos"/>
              </a:defRPr>
            </a:pPr>
            <a:r>
              <a:t>`location` uses the variable; `tags` uses the local map.</a:t>
            </a:r>
          </a:p>
          <a:p>
            <a:pPr>
              <a:spcAft>
                <a:spcPts val="700"/>
              </a:spcAft>
              <a:defRPr sz="1500">
                <a:solidFill>
                  <a:srgbClr val="2B343E"/>
                </a:solidFill>
                <a:latin typeface="Aptos"/>
              </a:defRPr>
            </a:pPr>
            <a:r>
              <a:t>Azure resource names often have service-specific character rules—validate names before production.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D4E"/>
                </a:solidFill>
                <a:latin typeface="Aptos"/>
              </a:defRPr>
            </a:pPr>
            <a:r>
              <a:t>6. Virtual Network resource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The VNet is explicitly placed inside the resource group.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60120" cy="54864"/>
          </a:xfrm>
          <a:prstGeom prst="rect">
            <a:avLst/>
          </a:prstGeom>
          <a:solidFill>
            <a:srgbClr val="279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A69AF"/>
                </a:solidFill>
                <a:latin typeface="Aptos"/>
              </a:defRPr>
            </a:pPr>
            <a:r>
              <a:t>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8755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9"/>
                </a:solidFill>
                <a:latin typeface="Aptos"/>
              </a:defRPr>
            </a:pPr>
            <a:r>
              <a:t>Terraform on Azure • Resource Group, VNet, Subnet &amp; NSG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6400800" cy="297180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resource "azurerm_virtual_network" "vnet" {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name                = "${local.name_prefix}-${var.vnet_name}"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location            = azurerm_resource_group.my_rg.location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resource_group_name = azurerm_resource_group.my_rg.name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address_space       = var.vnet_address_space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tags                = local.project_tag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417320"/>
            <a:ext cx="429768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`location` and `resource_group_name` reference the resource group.</a:t>
            </a:r>
          </a:p>
          <a:p>
            <a:pPr>
              <a:spcAft>
                <a:spcPts val="7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References use the form `resource_type.local_label.attribute`.</a:t>
            </a:r>
          </a:p>
          <a:p>
            <a:pPr>
              <a:spcAft>
                <a:spcPts val="7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`address_space` receives a list such as ["10.0.0.0/16"].</a:t>
            </a:r>
          </a:p>
          <a:p>
            <a:pPr>
              <a:spcAft>
                <a:spcPts val="7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Terraform infers a dependency: the resource group must exist before the VNet is created.</a:t>
            </a:r>
          </a:p>
          <a:p>
            <a:pPr>
              <a:spcAft>
                <a:spcPts val="7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Tags improve inventory, ownership, cost allocation and governance.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D4E"/>
                </a:solidFill>
                <a:latin typeface="Aptos"/>
              </a:defRPr>
            </a:pPr>
            <a:r>
              <a:t>7. Subnet resource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A subnet belongs to a specific VNet and uses a non-overlapping address range.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60120" cy="54864"/>
          </a:xfrm>
          <a:prstGeom prst="rect">
            <a:avLst/>
          </a:prstGeom>
          <a:solidFill>
            <a:srgbClr val="279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A69AF"/>
                </a:solidFill>
                <a:latin typeface="Aptos"/>
              </a:defRPr>
            </a:pPr>
            <a:r>
              <a:t>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8755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9"/>
                </a:solidFill>
                <a:latin typeface="Aptos"/>
              </a:defRPr>
            </a:pPr>
            <a:r>
              <a:t>Terraform on Azure • Resource Group, VNet, Subnet &amp; NSG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6583680" cy="292608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resource "azurerm_subnet" "web_subnet" {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name                 = "${local.name_prefix}-${var.subnet_name}"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resource_group_name  = azurerm_resource_group.my_rg.name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virtual_network_name = azurerm_virtual_network.vnet.name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address_prefixes     = var.subnet_address_prefixes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463040"/>
            <a:ext cx="4114800" cy="4297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`virtual_network_name` ties the subnet to the VNet.</a:t>
            </a:r>
          </a:p>
          <a:p>
            <a:pPr>
              <a:spcAft>
                <a:spcPts val="7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`address_prefixes` is a list; default is 10.0.1.0/24.</a:t>
            </a:r>
          </a:p>
          <a:p>
            <a:pPr>
              <a:spcAft>
                <a:spcPts val="7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Terraform sees a dependency on the VNet from the reference.</a:t>
            </a:r>
          </a:p>
          <a:p>
            <a:pPr>
              <a:spcAft>
                <a:spcPts val="7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Subnets are not standalone Azure networks; they segment a VNet.</a:t>
            </a:r>
          </a:p>
          <a:p>
            <a:pPr>
              <a:spcAft>
                <a:spcPts val="7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Plan the CIDR layout before creating peering, gateways or additional subnets.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D4E"/>
                </a:solidFill>
                <a:latin typeface="Aptos"/>
              </a:defRPr>
            </a:pPr>
            <a:r>
              <a:t>8. Network Security Group (NSG)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An NSG is a set of stateful traffic-filtering rules for network interfaces or subnets.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60120" cy="54864"/>
          </a:xfrm>
          <a:prstGeom prst="rect">
            <a:avLst/>
          </a:prstGeom>
          <a:solidFill>
            <a:srgbClr val="279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A69AF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8755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9"/>
                </a:solidFill>
                <a:latin typeface="Aptos"/>
              </a:defRPr>
            </a:pPr>
            <a:r>
              <a:t>Terraform on Azure • Resource Group, VNet, Subnet &amp; NSG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6126480" cy="256032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resource "azurerm_network_security_group" "web_nsg" {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name                = "${local.name_prefix}-nsg"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location            = azurerm_resource_group.my_rg.location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resource_group_name = azurerm_resource_group.my_rg.name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417320"/>
            <a:ext cx="457200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`name` evaluates to `sap-dev-nsg`.</a:t>
            </a:r>
          </a:p>
          <a:p>
            <a:pPr>
              <a:spcAft>
                <a:spcPts val="7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`location` and `resource_group_name` are taken from the resource group.</a:t>
            </a:r>
          </a:p>
          <a:p>
            <a:pPr>
              <a:spcAft>
                <a:spcPts val="7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The NSG is only the container for rules; rules are separate resources in this example.</a:t>
            </a:r>
          </a:p>
          <a:p>
            <a:pPr>
              <a:spcAft>
                <a:spcPts val="7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Azure has default NSG rules. Custom rules are evaluated by priority (lower number first).</a:t>
            </a:r>
          </a:p>
          <a:p>
            <a:pPr>
              <a:spcAft>
                <a:spcPts val="7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An NSG can be associated with a subnet or network interface.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D4E"/>
                </a:solidFill>
                <a:latin typeface="Aptos"/>
              </a:defRPr>
            </a:pPr>
            <a:r>
              <a:t>9. Inbound rules: SSH and HTTP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Each custom rule needs a unique Terraform address and a unique Azure rule name within the NSG.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60120" cy="54864"/>
          </a:xfrm>
          <a:prstGeom prst="rect">
            <a:avLst/>
          </a:prstGeom>
          <a:solidFill>
            <a:srgbClr val="279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A69AF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8755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9"/>
                </a:solidFill>
                <a:latin typeface="Aptos"/>
              </a:defRPr>
            </a:pPr>
            <a:r>
              <a:t>Terraform on Azure • Resource Group, VNet, Subnet &amp; NSG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7589520" cy="498348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spcAft>
                <a:spcPts val="0"/>
              </a:spcAft>
              <a:defRPr sz="1000">
                <a:solidFill>
                  <a:srgbClr val="162D4E"/>
                </a:solidFill>
                <a:latin typeface="Cascadia Code"/>
              </a:defRPr>
            </a:pPr>
            <a:r>
              <a:t>resource "azurerm_network_security_rule" "ssh" {</a:t>
            </a:r>
          </a:p>
          <a:p>
            <a:pPr>
              <a:spcAft>
                <a:spcPts val="0"/>
              </a:spcAft>
              <a:defRPr sz="1000">
                <a:solidFill>
                  <a:srgbClr val="162D4E"/>
                </a:solidFill>
                <a:latin typeface="Cascadia Code"/>
              </a:defRPr>
            </a:pPr>
            <a:r>
              <a:t>  name                        = "Rule_port_22"</a:t>
            </a:r>
          </a:p>
          <a:p>
            <a:pPr>
              <a:spcAft>
                <a:spcPts val="0"/>
              </a:spcAft>
              <a:defRPr sz="1000">
                <a:solidFill>
                  <a:srgbClr val="162D4E"/>
                </a:solidFill>
                <a:latin typeface="Cascadia Code"/>
              </a:defRPr>
            </a:pPr>
            <a:r>
              <a:t>  priority                    = 100</a:t>
            </a:r>
          </a:p>
          <a:p>
            <a:pPr>
              <a:spcAft>
                <a:spcPts val="0"/>
              </a:spcAft>
              <a:defRPr sz="1000">
                <a:solidFill>
                  <a:srgbClr val="162D4E"/>
                </a:solidFill>
                <a:latin typeface="Cascadia Code"/>
              </a:defRPr>
            </a:pPr>
            <a:r>
              <a:t>  direction                   = "Inbound"</a:t>
            </a:r>
          </a:p>
          <a:p>
            <a:pPr>
              <a:spcAft>
                <a:spcPts val="0"/>
              </a:spcAft>
              <a:defRPr sz="1000">
                <a:solidFill>
                  <a:srgbClr val="162D4E"/>
                </a:solidFill>
                <a:latin typeface="Cascadia Code"/>
              </a:defRPr>
            </a:pPr>
            <a:r>
              <a:t>  access                      = "Allow"</a:t>
            </a:r>
          </a:p>
          <a:p>
            <a:pPr>
              <a:spcAft>
                <a:spcPts val="0"/>
              </a:spcAft>
              <a:defRPr sz="1000">
                <a:solidFill>
                  <a:srgbClr val="162D4E"/>
                </a:solidFill>
                <a:latin typeface="Cascadia Code"/>
              </a:defRPr>
            </a:pPr>
            <a:r>
              <a:t>  protocol                    = "Tcp"</a:t>
            </a:r>
          </a:p>
          <a:p>
            <a:pPr>
              <a:spcAft>
                <a:spcPts val="0"/>
              </a:spcAft>
              <a:defRPr sz="1000">
                <a:solidFill>
                  <a:srgbClr val="162D4E"/>
                </a:solidFill>
                <a:latin typeface="Cascadia Code"/>
              </a:defRPr>
            </a:pPr>
            <a:r>
              <a:t>  source_port_range           = "*"</a:t>
            </a:r>
          </a:p>
          <a:p>
            <a:pPr>
              <a:spcAft>
                <a:spcPts val="0"/>
              </a:spcAft>
              <a:defRPr sz="1000">
                <a:solidFill>
                  <a:srgbClr val="162D4E"/>
                </a:solidFill>
                <a:latin typeface="Cascadia Code"/>
              </a:defRPr>
            </a:pPr>
            <a:r>
              <a:t>  destination_port_range      = "22"</a:t>
            </a:r>
          </a:p>
          <a:p>
            <a:pPr>
              <a:spcAft>
                <a:spcPts val="0"/>
              </a:spcAft>
              <a:defRPr sz="1000">
                <a:solidFill>
                  <a:srgbClr val="162D4E"/>
                </a:solidFill>
                <a:latin typeface="Cascadia Code"/>
              </a:defRPr>
            </a:pPr>
            <a:r>
              <a:t>  source_address_prefix       = var.admin_source_cidr</a:t>
            </a:r>
          </a:p>
          <a:p>
            <a:pPr>
              <a:spcAft>
                <a:spcPts val="0"/>
              </a:spcAft>
              <a:defRPr sz="1000">
                <a:solidFill>
                  <a:srgbClr val="162D4E"/>
                </a:solidFill>
                <a:latin typeface="Cascadia Code"/>
              </a:defRPr>
            </a:pPr>
            <a:r>
              <a:t>  destination_address_prefix  = "*"</a:t>
            </a:r>
          </a:p>
          <a:p>
            <a:pPr>
              <a:spcAft>
                <a:spcPts val="0"/>
              </a:spcAft>
              <a:defRPr sz="1000">
                <a:solidFill>
                  <a:srgbClr val="162D4E"/>
                </a:solidFill>
                <a:latin typeface="Cascadia Code"/>
              </a:defRPr>
            </a:pPr>
            <a:r>
              <a:t>  resource_group_name         = azurerm_resource_group.my_rg.name</a:t>
            </a:r>
          </a:p>
          <a:p>
            <a:pPr>
              <a:spcAft>
                <a:spcPts val="0"/>
              </a:spcAft>
              <a:defRPr sz="1000">
                <a:solidFill>
                  <a:srgbClr val="162D4E"/>
                </a:solidFill>
                <a:latin typeface="Cascadia Code"/>
              </a:defRPr>
            </a:pPr>
            <a:r>
              <a:t>  network_security_group_name = azurerm_network_security_group.web_nsg.name</a:t>
            </a:r>
          </a:p>
          <a:p>
            <a:pPr>
              <a:spcAft>
                <a:spcPts val="0"/>
              </a:spcAft>
              <a:defRPr sz="1000">
                <a:solidFill>
                  <a:srgbClr val="162D4E"/>
                </a:solidFill>
                <a:latin typeface="Cascadia Code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000">
                <a:solidFill>
                  <a:srgbClr val="162D4E"/>
                </a:solidFill>
                <a:latin typeface="Cascadia Code"/>
              </a:defRPr>
            </a:pPr>
          </a:p>
          <a:p>
            <a:pPr>
              <a:spcAft>
                <a:spcPts val="0"/>
              </a:spcAft>
              <a:defRPr sz="1000">
                <a:solidFill>
                  <a:srgbClr val="162D4E"/>
                </a:solidFill>
                <a:latin typeface="Cascadia Code"/>
              </a:defRPr>
            </a:pPr>
            <a:r>
              <a:t>resource "azurerm_network_security_rule" "http" {</a:t>
            </a:r>
          </a:p>
          <a:p>
            <a:pPr>
              <a:spcAft>
                <a:spcPts val="0"/>
              </a:spcAft>
              <a:defRPr sz="1000">
                <a:solidFill>
                  <a:srgbClr val="162D4E"/>
                </a:solidFill>
                <a:latin typeface="Cascadia Code"/>
              </a:defRPr>
            </a:pPr>
            <a:r>
              <a:t>  name                        = "Rule_port_80"</a:t>
            </a:r>
          </a:p>
          <a:p>
            <a:pPr>
              <a:spcAft>
                <a:spcPts val="0"/>
              </a:spcAft>
              <a:defRPr sz="1000">
                <a:solidFill>
                  <a:srgbClr val="162D4E"/>
                </a:solidFill>
                <a:latin typeface="Cascadia Code"/>
              </a:defRPr>
            </a:pPr>
            <a:r>
              <a:t>  priority                    = 110</a:t>
            </a:r>
          </a:p>
          <a:p>
            <a:pPr>
              <a:spcAft>
                <a:spcPts val="0"/>
              </a:spcAft>
              <a:defRPr sz="1000">
                <a:solidFill>
                  <a:srgbClr val="162D4E"/>
                </a:solidFill>
                <a:latin typeface="Cascadia Code"/>
              </a:defRPr>
            </a:pPr>
            <a:r>
              <a:t>  direction                   = "Inbound"</a:t>
            </a:r>
          </a:p>
          <a:p>
            <a:pPr>
              <a:spcAft>
                <a:spcPts val="0"/>
              </a:spcAft>
              <a:defRPr sz="1000">
                <a:solidFill>
                  <a:srgbClr val="162D4E"/>
                </a:solidFill>
                <a:latin typeface="Cascadia Code"/>
              </a:defRPr>
            </a:pPr>
            <a:r>
              <a:t>  access                      = "Allow"</a:t>
            </a:r>
          </a:p>
          <a:p>
            <a:pPr>
              <a:spcAft>
                <a:spcPts val="0"/>
              </a:spcAft>
              <a:defRPr sz="1000">
                <a:solidFill>
                  <a:srgbClr val="162D4E"/>
                </a:solidFill>
                <a:latin typeface="Cascadia Code"/>
              </a:defRPr>
            </a:pPr>
            <a:r>
              <a:t>  protocol                    = "Tcp"</a:t>
            </a:r>
          </a:p>
          <a:p>
            <a:pPr>
              <a:spcAft>
                <a:spcPts val="0"/>
              </a:spcAft>
              <a:defRPr sz="1000">
                <a:solidFill>
                  <a:srgbClr val="162D4E"/>
                </a:solidFill>
                <a:latin typeface="Cascadia Code"/>
              </a:defRPr>
            </a:pPr>
            <a:r>
              <a:t>  source_port_range           = "*"</a:t>
            </a:r>
          </a:p>
          <a:p>
            <a:pPr>
              <a:spcAft>
                <a:spcPts val="0"/>
              </a:spcAft>
              <a:defRPr sz="1000">
                <a:solidFill>
                  <a:srgbClr val="162D4E"/>
                </a:solidFill>
                <a:latin typeface="Cascadia Code"/>
              </a:defRPr>
            </a:pPr>
            <a:r>
              <a:t>  destination_port_range      = "80"</a:t>
            </a:r>
          </a:p>
          <a:p>
            <a:pPr>
              <a:spcAft>
                <a:spcPts val="0"/>
              </a:spcAft>
              <a:defRPr sz="1000">
                <a:solidFill>
                  <a:srgbClr val="162D4E"/>
                </a:solidFill>
                <a:latin typeface="Cascadia Code"/>
              </a:defRPr>
            </a:pPr>
            <a:r>
              <a:t>  source_address_prefix       = "*"</a:t>
            </a:r>
          </a:p>
          <a:p>
            <a:pPr>
              <a:spcAft>
                <a:spcPts val="0"/>
              </a:spcAft>
              <a:defRPr sz="1000">
                <a:solidFill>
                  <a:srgbClr val="162D4E"/>
                </a:solidFill>
                <a:latin typeface="Cascadia Code"/>
              </a:defRPr>
            </a:pPr>
            <a:r>
              <a:t>  destination_address_prefix  = "*"</a:t>
            </a:r>
          </a:p>
          <a:p>
            <a:pPr>
              <a:spcAft>
                <a:spcPts val="0"/>
              </a:spcAft>
              <a:defRPr sz="1000">
                <a:solidFill>
                  <a:srgbClr val="162D4E"/>
                </a:solidFill>
                <a:latin typeface="Cascadia Code"/>
              </a:defRPr>
            </a:pPr>
            <a:r>
              <a:t>  resource_group_name         = azurerm_resource_group.my_rg.name</a:t>
            </a:r>
          </a:p>
          <a:p>
            <a:pPr>
              <a:spcAft>
                <a:spcPts val="0"/>
              </a:spcAft>
              <a:defRPr sz="1000">
                <a:solidFill>
                  <a:srgbClr val="162D4E"/>
                </a:solidFill>
                <a:latin typeface="Cascadia Code"/>
              </a:defRPr>
            </a:pPr>
            <a:r>
              <a:t>  network_security_group_name = azurerm_network_security_group.web_nsg.name</a:t>
            </a:r>
          </a:p>
          <a:p>
            <a:pPr>
              <a:spcAft>
                <a:spcPts val="0"/>
              </a:spcAft>
              <a:defRPr sz="1000">
                <a:solidFill>
                  <a:srgbClr val="162D4E"/>
                </a:solidFill>
                <a:latin typeface="Cascadia Code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508760"/>
            <a:ext cx="3291840" cy="132588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0" y="1508760"/>
            <a:ext cx="82296" cy="1325880"/>
          </a:xfrm>
          <a:prstGeom prst="rect">
            <a:avLst/>
          </a:prstGeom>
          <a:solidFill>
            <a:srgbClr val="B8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19" y="1645919"/>
            <a:ext cx="297180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D4E"/>
                </a:solidFill>
                <a:latin typeface="Aptos"/>
              </a:defRPr>
            </a:pPr>
            <a:r>
              <a:t>Priority 100 • SSH 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2075688"/>
            <a:ext cx="2971800" cy="6675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B343E"/>
                </a:solidFill>
                <a:latin typeface="Aptos"/>
              </a:defRPr>
            </a:pPr>
            <a:r>
              <a:t>Allow administration only from a trusted IP/CIDR.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063240"/>
            <a:ext cx="3291840" cy="132588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3063240"/>
            <a:ext cx="82296" cy="1325880"/>
          </a:xfrm>
          <a:prstGeom prst="rect">
            <a:avLst/>
          </a:prstGeom>
          <a:solidFill>
            <a:srgbClr val="358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3200400"/>
            <a:ext cx="297180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D4E"/>
                </a:solidFill>
                <a:latin typeface="Aptos"/>
              </a:defRPr>
            </a:pPr>
            <a:r>
              <a:t>Priority 110 • HTTP 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3630168"/>
            <a:ext cx="2971800" cy="6675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B343E"/>
                </a:solidFill>
                <a:latin typeface="Aptos"/>
              </a:defRPr>
            </a:pPr>
            <a:r>
              <a:t>Allow web traffic if the application is intended to be public.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709160"/>
            <a:ext cx="320040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B84242"/>
                </a:solidFill>
                <a:latin typeface="Aptos"/>
              </a:defRPr>
            </a:pPr>
            <a:r>
              <a:t>Do not expose SSH to `*` in production. Prefer VPN, Bastion, or a tightly scoped admin CIDR.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D4E"/>
                </a:solidFill>
                <a:latin typeface="Aptos"/>
              </a:defRPr>
            </a:pPr>
            <a:r>
              <a:t>10. Associate the NSG with the subnet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Creating an NSG does not automatically attach it to a subnet.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60120" cy="54864"/>
          </a:xfrm>
          <a:prstGeom prst="rect">
            <a:avLst/>
          </a:prstGeom>
          <a:solidFill>
            <a:srgbClr val="279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A69AF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8755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9"/>
                </a:solidFill>
                <a:latin typeface="Aptos"/>
              </a:defRPr>
            </a:pPr>
            <a:r>
              <a:t>Terraform on Azure • Resource Group, VNet, Subnet &amp; NSG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7406640" cy="246888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resource "azurerm_subnet_network_security_group_association" "web_subnet_nsg" {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subnet_id                 = azurerm_subnet.web_subnet.id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network_security_group_id = azurerm_network_security_group.web_nsg.id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607040" cy="1920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B343E"/>
                </a:solidFill>
                <a:latin typeface="Aptos"/>
              </a:defRPr>
            </a:pPr>
            <a:r>
              <a:t>`subnet_id` identifies the target subnet.</a:t>
            </a:r>
          </a:p>
          <a:p>
            <a:pPr>
              <a:spcAft>
                <a:spcPts val="500"/>
              </a:spcAft>
              <a:defRPr sz="1500">
                <a:solidFill>
                  <a:srgbClr val="2B343E"/>
                </a:solidFill>
                <a:latin typeface="Aptos"/>
              </a:defRPr>
            </a:pPr>
            <a:r>
              <a:t>`network_security_group_id` identifies the NSG.</a:t>
            </a:r>
          </a:p>
          <a:p>
            <a:pPr>
              <a:spcAft>
                <a:spcPts val="500"/>
              </a:spcAft>
              <a:defRPr sz="1500">
                <a:solidFill>
                  <a:srgbClr val="2B343E"/>
                </a:solidFill>
                <a:latin typeface="Aptos"/>
              </a:defRPr>
            </a:pPr>
            <a:r>
              <a:t>Both references create implicit dependencies, so Terraform orders creation correctly.</a:t>
            </a:r>
          </a:p>
          <a:p>
            <a:pPr>
              <a:spcAft>
                <a:spcPts val="500"/>
              </a:spcAft>
              <a:defRPr sz="1500">
                <a:solidFill>
                  <a:srgbClr val="2B343E"/>
                </a:solidFill>
                <a:latin typeface="Aptos"/>
              </a:defRPr>
            </a:pPr>
            <a:r>
              <a:t>An NSG can be associated with a subnet or a NIC; avoid conflicting management of the same association.</a:t>
            </a:r>
          </a:p>
          <a:p>
            <a:pPr>
              <a:spcAft>
                <a:spcPts val="500"/>
              </a:spcAft>
              <a:defRPr sz="1500">
                <a:solidFill>
                  <a:srgbClr val="2B343E"/>
                </a:solidFill>
                <a:latin typeface="Aptos"/>
              </a:defRPr>
            </a:pPr>
            <a:r>
              <a:t>Once associated, rules can filter traffic entering and leaving the subnet, subject to Azure's NSG processing.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D4E"/>
                </a:solidFill>
                <a:latin typeface="Aptos"/>
              </a:defRPr>
            </a:pPr>
            <a:r>
              <a:t>11. Outputs: expose useful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Outputs make selected resource attributes visible after apply and reusable by parent modules.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60120" cy="54864"/>
          </a:xfrm>
          <a:prstGeom prst="rect">
            <a:avLst/>
          </a:prstGeom>
          <a:solidFill>
            <a:srgbClr val="279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A69AF"/>
                </a:solidFill>
                <a:latin typeface="Aptos"/>
              </a:defRPr>
            </a:pPr>
            <a:r>
              <a:t>OUTPUTS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8755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9"/>
                </a:solidFill>
                <a:latin typeface="Aptos"/>
              </a:defRPr>
            </a:pPr>
            <a:r>
              <a:t>Terraform on Azure • Resource Group, VNet, Subnet &amp; NSG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6400800" cy="283464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output "resource_group_name" {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description = "The name of the resource group"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value       = azurerm_resource_group.my_rg.name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output "location" {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description = "The Azure region of the resource group"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value       = azurerm_resource_group.my_rg.location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508760"/>
            <a:ext cx="4206240" cy="4206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`output` declares a value Terraform should display or expose.</a:t>
            </a:r>
          </a:p>
          <a:p>
            <a:pPr>
              <a:spcAft>
                <a:spcPts val="7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`value` reads an attribute from the resource address.</a:t>
            </a:r>
          </a:p>
          <a:p>
            <a:pPr>
              <a:spcAft>
                <a:spcPts val="7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Outputs do not create Azure resources.</a:t>
            </a:r>
          </a:p>
          <a:p>
            <a:pPr>
              <a:spcAft>
                <a:spcPts val="7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Outputs may reveal sensitive data; mark sensitive outputs when appropriate.</a:t>
            </a:r>
          </a:p>
          <a:p>
            <a:pPr>
              <a:spcAft>
                <a:spcPts val="7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Use `terraform output` to inspect outputs after apply.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D4E"/>
                </a:solidFill>
                <a:latin typeface="Aptos"/>
              </a:defRPr>
            </a:pPr>
            <a:r>
              <a:t>12. State, references and dependency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Terraform state records the mapping between configuration addresses and real objects.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60120" cy="54864"/>
          </a:xfrm>
          <a:prstGeom prst="rect">
            <a:avLst/>
          </a:prstGeom>
          <a:solidFill>
            <a:srgbClr val="279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A69AF"/>
                </a:solidFill>
                <a:latin typeface="Aptos"/>
              </a:defRPr>
            </a:pPr>
            <a:r>
              <a:t>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8755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9"/>
                </a:solidFill>
                <a:latin typeface="Aptos"/>
              </a:defRPr>
            </a:pPr>
            <a:r>
              <a:t>Terraform on Azure • Resource Group, VNet, Subnet &amp; NSG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429000" cy="137160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82296" cy="1371600"/>
          </a:xfrm>
          <a:prstGeom prst="rect">
            <a:avLst/>
          </a:prstGeom>
          <a:solidFill>
            <a:srgbClr val="2A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645919"/>
            <a:ext cx="31089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D4E"/>
                </a:solidFill>
                <a:latin typeface="Aptos"/>
              </a:defRPr>
            </a:pPr>
            <a:r>
              <a:t>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75688"/>
            <a:ext cx="3108960" cy="7132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B343E"/>
                </a:solidFill>
                <a:latin typeface="Aptos"/>
              </a:defRPr>
            </a:pPr>
            <a:r>
              <a:t>Desired state: resource blocks, variables, locals and outputs.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429000" cy="137160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08760"/>
            <a:ext cx="82296" cy="1371600"/>
          </a:xfrm>
          <a:prstGeom prst="rect">
            <a:avLst/>
          </a:prstGeom>
          <a:solidFill>
            <a:srgbClr val="DE8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645919"/>
            <a:ext cx="31089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D4E"/>
                </a:solidFill>
                <a:latin typeface="Aptos"/>
              </a:defRPr>
            </a:pPr>
            <a:r>
              <a:t>State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75688"/>
            <a:ext cx="3108960" cy="7132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B343E"/>
                </a:solidFill>
                <a:latin typeface="Aptos"/>
              </a:defRPr>
            </a:pPr>
            <a:r>
              <a:t>Tracks resource IDs and attributes observed/managed by Terraform.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08760"/>
            <a:ext cx="3429000" cy="137160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508760"/>
            <a:ext cx="82296" cy="1371600"/>
          </a:xfrm>
          <a:prstGeom prst="rect">
            <a:avLst/>
          </a:prstGeom>
          <a:solidFill>
            <a:srgbClr val="358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645919"/>
            <a:ext cx="31089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D4E"/>
                </a:solidFill>
                <a:latin typeface="Aptos"/>
              </a:defRPr>
            </a:pPr>
            <a:r>
              <a:t>Azure APIs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75688"/>
            <a:ext cx="3108960" cy="7132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B343E"/>
                </a:solidFill>
                <a:latin typeface="Aptos"/>
              </a:defRPr>
            </a:pPr>
            <a:r>
              <a:t>The actual deployed resource objects in your subscription.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337560"/>
            <a:ext cx="1042416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62D4E"/>
                </a:solidFill>
                <a:latin typeface="Aptos"/>
              </a:defRPr>
            </a:pPr>
            <a:r>
              <a:t>terraform plan compares configuration + state + refreshed provider data to propose changes.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977639"/>
            <a:ext cx="10515600" cy="1920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Resource references create implicit dependency edges in Terraform's graph.</a:t>
            </a:r>
          </a:p>
          <a:p>
            <a:pPr>
              <a:spcAft>
                <a:spcPts val="5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State is not a backup of your configuration and should be protected as sensitive operational data.</a:t>
            </a:r>
          </a:p>
          <a:p>
            <a:pPr>
              <a:spcAft>
                <a:spcPts val="5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For teams, use a remote backend with locking where supported, access control, encryption and recovery.</a:t>
            </a:r>
          </a:p>
          <a:p>
            <a:pPr>
              <a:spcAft>
                <a:spcPts val="5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Do not manually edit state JSON or commit it to a public repository.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D4E"/>
                </a:solidFill>
                <a:latin typeface="Aptos"/>
              </a:defRPr>
            </a:pPr>
            <a:r>
              <a:t>Important fixes to the supplied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Resolve these before running terraform plan.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60120" cy="54864"/>
          </a:xfrm>
          <a:prstGeom prst="rect">
            <a:avLst/>
          </a:prstGeom>
          <a:solidFill>
            <a:srgbClr val="279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A69AF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8755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9"/>
                </a:solidFill>
                <a:latin typeface="Aptos"/>
              </a:defRPr>
            </a:pPr>
            <a:r>
              <a:t>Terraform on Azure • Resource Group, VNet, Subnet &amp; NSG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394960" cy="141732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417320"/>
          </a:xfrm>
          <a:prstGeom prst="rect">
            <a:avLst/>
          </a:prstGeom>
          <a:solidFill>
            <a:srgbClr val="B8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554480"/>
            <a:ext cx="507492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D4E"/>
                </a:solidFill>
                <a:latin typeface="Aptos"/>
              </a:defRPr>
            </a:pPr>
            <a:r>
              <a:t>1. Duplicate resource 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984248"/>
            <a:ext cx="5074920" cy="75895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B343E"/>
                </a:solidFill>
                <a:latin typeface="Aptos"/>
              </a:defRPr>
            </a:pPr>
            <a:r>
              <a:t>Both NSG rule blocks use `azurerm_network_security_rule.web_nsg_rule`. Terraform addresses must be unique. Use labels such as `ssh` and `http`.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303520" cy="141732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82296" cy="1417320"/>
          </a:xfrm>
          <a:prstGeom prst="rect">
            <a:avLst/>
          </a:prstGeom>
          <a:solidFill>
            <a:srgbClr val="B8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54480"/>
            <a:ext cx="498348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D4E"/>
                </a:solidFill>
                <a:latin typeface="Aptos"/>
              </a:defRPr>
            </a:pPr>
            <a:r>
              <a:t>2. SSH source is too broad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84248"/>
            <a:ext cx="4983480" cy="75895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B343E"/>
                </a:solidFill>
                <a:latin typeface="Aptos"/>
              </a:defRPr>
            </a:pPr>
            <a:r>
              <a:t>`source_address_prefix = "*"` allows SSH from any source if network paths permit it. Restrict it to your admin CIDR or use a safer access method.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54680"/>
            <a:ext cx="5394960" cy="141732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154680"/>
            <a:ext cx="82296" cy="1417320"/>
          </a:xfrm>
          <a:prstGeom prst="rect">
            <a:avLst/>
          </a:prstGeom>
          <a:solidFill>
            <a:srgbClr val="DE8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291840"/>
            <a:ext cx="507492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D4E"/>
                </a:solidFill>
                <a:latin typeface="Aptos"/>
              </a:defRPr>
            </a:pPr>
            <a:r>
              <a:t>3. Port types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721608"/>
            <a:ext cx="5074920" cy="75895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B343E"/>
                </a:solidFill>
                <a:latin typeface="Aptos"/>
              </a:defRPr>
            </a:pPr>
            <a:r>
              <a:t>Use quoted strings for `destination_port_range`, e.g. `"22"` and `"80"`, matching AzureRM schema expectations.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154680"/>
            <a:ext cx="5303520" cy="141732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154680"/>
            <a:ext cx="82296" cy="1417320"/>
          </a:xfrm>
          <a:prstGeom prst="rect">
            <a:avLst/>
          </a:prstGeom>
          <a:solidFill>
            <a:srgbClr val="DE8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291840"/>
            <a:ext cx="498348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D4E"/>
                </a:solidFill>
                <a:latin typeface="Aptos"/>
              </a:defRPr>
            </a:pPr>
            <a:r>
              <a:t>4. Comment syntax / file boundaries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721608"/>
            <a:ext cx="4983480" cy="75895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B343E"/>
                </a:solidFill>
                <a:latin typeface="Aptos"/>
              </a:defRPr>
            </a:pPr>
            <a:r>
              <a:t>The pasted text runs multiple blocks together (e.g. `}#we will create...`). Put blocks in valid .tf files and keep comments clear.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74920"/>
            <a:ext cx="1051560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2D4E"/>
                </a:solidFill>
                <a:latin typeface="Aptos"/>
              </a:defRPr>
            </a:pPr>
            <a:r>
              <a:t>Also check whether your AzureRM 5.0.0 provider version is available and compatible with your installed Terraform version; initialize and validate the actual project.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D4E"/>
                </a:solidFill>
                <a:latin typeface="Aptos"/>
              </a:defRPr>
            </a:pPr>
            <a:r>
              <a:t>Add a variable for SSH source CIDR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Example: limit SSH to a known administrator public IP range.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60120" cy="54864"/>
          </a:xfrm>
          <a:prstGeom prst="rect">
            <a:avLst/>
          </a:prstGeom>
          <a:solidFill>
            <a:srgbClr val="279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A69AF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8755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9"/>
                </a:solidFill>
                <a:latin typeface="Aptos"/>
              </a:defRPr>
            </a:pPr>
            <a:r>
              <a:t>Terraform on Azure • Resource Group, VNet, Subnet &amp; NSG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6583680" cy="256032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variable "admin_source_cidr" {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description = "Trusted CIDR allowed to connect over SSH"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type        = string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# Replace with your actual fixed public IP/CIDR.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# Example only; do not use this documentation address in production.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default     = "203.0.113.10/32"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600200"/>
            <a:ext cx="4023360" cy="4023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`/32` represents one IPv4 address.</a:t>
            </a:r>
          </a:p>
          <a:p>
            <a:pPr>
              <a:spcAft>
                <a:spcPts val="8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The sample uses a documentation-only IP range; replace it with your real trusted source CIDR.</a:t>
            </a:r>
          </a:p>
          <a:p>
            <a:pPr>
              <a:spcAft>
                <a:spcPts val="8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For dynamic admin IPs, prefer Azure Bastion, VPN or another controlled management path.</a:t>
            </a:r>
          </a:p>
          <a:p>
            <a:pPr>
              <a:spcAft>
                <a:spcPts val="8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Review both inbound and outbound rules against the workload's actual needs.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D4E"/>
                </a:solidFill>
                <a:latin typeface="Aptos"/>
              </a:defRPr>
            </a:pPr>
            <a:r>
              <a:t>13. Run the Terraform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Run these commands from the directory containing your .tf files.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60120" cy="54864"/>
          </a:xfrm>
          <a:prstGeom prst="rect">
            <a:avLst/>
          </a:prstGeom>
          <a:solidFill>
            <a:srgbClr val="279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A69AF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8755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9"/>
                </a:solidFill>
                <a:latin typeface="Aptos"/>
              </a:defRPr>
            </a:pPr>
            <a:r>
              <a:t>Terraform on Azure • Resource Group, VNet, Subnet &amp; NSG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943600" cy="484632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# 1. Initialize providers and backend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terraform init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# 2. Format the configuration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terraform fmt -recursive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# 3. Validate syntax and provider schema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terraform validate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# 4. Preview proposed changes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terraform plan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# 5. Apply after reviewing the plan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terraform apply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# 6. Inspect output values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terraform output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# 7. Remove resources managed by this configuration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terraform destroy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554480"/>
            <a:ext cx="448056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`init` downloads providers and initializes the working directory.</a:t>
            </a:r>
          </a:p>
          <a:p>
            <a:pPr>
              <a:spcAft>
                <a:spcPts val="8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`fmt` standardizes HCL formatting; `validate` checks configuration consistency.</a:t>
            </a:r>
          </a:p>
          <a:p>
            <a:pPr>
              <a:spcAft>
                <a:spcPts val="8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`plan` previews changes but does not deploy them.</a:t>
            </a:r>
          </a:p>
          <a:p>
            <a:pPr>
              <a:spcAft>
                <a:spcPts val="8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`apply` creates/updates resources after approval.</a:t>
            </a:r>
          </a:p>
          <a:p>
            <a:pPr>
              <a:spcAft>
                <a:spcPts val="800"/>
              </a:spcAft>
              <a:defRPr sz="1400">
                <a:solidFill>
                  <a:srgbClr val="2B343E"/>
                </a:solidFill>
                <a:latin typeface="Aptos"/>
              </a:defRPr>
            </a:pPr>
            <a:r>
              <a:t>`destroy` removes managed resources; review the plan carefully before confirming.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D4E"/>
                </a:solidFill>
                <a:latin typeface="Aptos"/>
              </a:defRPr>
            </a:pPr>
            <a:r>
              <a:t>14. Override defaults with terraform.tfvars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Keep environment-specific inputs out of the resource blocks.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60120" cy="54864"/>
          </a:xfrm>
          <a:prstGeom prst="rect">
            <a:avLst/>
          </a:prstGeom>
          <a:solidFill>
            <a:srgbClr val="279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A69AF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8755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9"/>
                </a:solidFill>
                <a:latin typeface="Aptos"/>
              </a:defRPr>
            </a:pPr>
            <a:r>
              <a:t>Terraform on Azure • Resource Group, VNet, Subnet &amp; NSG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858000" cy="393192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# terraform.tfvars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project_name            = "sap"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environment             = "dev"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location                = "eastus"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resource_group_name     = "gopal-rg"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vnet_name               = "gopal-network"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vnet_address_space      = ["10.0.0.0/16"]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subnet_name             = "web-subnet"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subnet_address_prefixes = ["10.0.1.0/24"]</a:t>
            </a:r>
          </a:p>
          <a:p>
            <a:pPr>
              <a:spcAft>
                <a:spcPts val="0"/>
              </a:spcAft>
              <a:defRPr sz="1400">
                <a:solidFill>
                  <a:srgbClr val="162D4E"/>
                </a:solidFill>
                <a:latin typeface="Cascadia Code"/>
              </a:defRPr>
            </a:pPr>
            <a:r>
              <a:t>admin_source_cidr       = "REPLACE_WITH_YOUR_PUBLIC_IP/32"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600200"/>
            <a:ext cx="3749039" cy="4297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B343E"/>
                </a:solidFill>
                <a:latin typeface="Aptos"/>
              </a:defRPr>
            </a:pPr>
            <a:r>
              <a:t>Terraform automatically loads `terraform.tfvars` in the working directory.</a:t>
            </a:r>
          </a:p>
          <a:p>
            <a:pPr>
              <a:spcAft>
                <a:spcPts val="800"/>
              </a:spcAft>
              <a:defRPr sz="1300">
                <a:solidFill>
                  <a:srgbClr val="2B343E"/>
                </a:solidFill>
                <a:latin typeface="Aptos"/>
              </a:defRPr>
            </a:pPr>
            <a:r>
              <a:t>Use `dev.tfvars`, `staging.tfvars`, or `prod.tfvars` for named environment files.</a:t>
            </a:r>
          </a:p>
          <a:p>
            <a:pPr>
              <a:spcAft>
                <a:spcPts val="800"/>
              </a:spcAft>
              <a:defRPr sz="1300">
                <a:solidFill>
                  <a:srgbClr val="2B343E"/>
                </a:solidFill>
                <a:latin typeface="Aptos"/>
              </a:defRPr>
            </a:pPr>
            <a:r>
              <a:t>Pass a named file with `terraform plan -var-file="dev.tfvars"` and the same option to apply.</a:t>
            </a:r>
          </a:p>
          <a:p>
            <a:pPr>
              <a:spcAft>
                <a:spcPts val="800"/>
              </a:spcAft>
              <a:defRPr sz="1300">
                <a:solidFill>
                  <a:srgbClr val="2B343E"/>
                </a:solidFill>
                <a:latin typeface="Aptos"/>
              </a:defRPr>
            </a:pPr>
            <a:r>
              <a:t>Do not check secrets into version control; use a secret manager or protected pipeline variables.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D4E"/>
                </a:solidFill>
                <a:latin typeface="Aptos"/>
              </a:defRPr>
            </a:pPr>
            <a:r>
              <a:t>15. Evaluate names and tags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Trace each expression before running the deployment.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60120" cy="54864"/>
          </a:xfrm>
          <a:prstGeom prst="rect">
            <a:avLst/>
          </a:prstGeom>
          <a:solidFill>
            <a:srgbClr val="279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A69AF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8755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9"/>
                </a:solidFill>
                <a:latin typeface="Aptos"/>
              </a:defRPr>
            </a:pPr>
            <a:r>
              <a:t>Terraform on Azure • Resource Group, VNet, Subnet &amp; NSG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429000" cy="128016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82296" cy="1280160"/>
          </a:xfrm>
          <a:prstGeom prst="rect">
            <a:avLst/>
          </a:prstGeom>
          <a:solidFill>
            <a:srgbClr val="2A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645919"/>
            <a:ext cx="31089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D4E"/>
                </a:solidFill>
                <a:latin typeface="Aptos"/>
              </a:defRPr>
            </a:pPr>
            <a:r>
              <a:t>local.name_prefix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75688"/>
            <a:ext cx="3108960" cy="6217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B343E"/>
                </a:solidFill>
                <a:latin typeface="Aptos"/>
              </a:defRPr>
            </a:pPr>
            <a:r>
              <a:t>var.project_name + "-" + var.environment</a:t>
            </a:r>
          </a:p>
          <a:p>
            <a:pPr>
              <a:spcAft>
                <a:spcPts val="500"/>
              </a:spcAft>
              <a:defRPr sz="1400" b="0">
                <a:solidFill>
                  <a:srgbClr val="2B343E"/>
                </a:solidFill>
                <a:latin typeface="Aptos"/>
              </a:defRPr>
            </a:pPr>
            <a:r>
              <a:t>→ sap-dev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429000" cy="128016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08760"/>
            <a:ext cx="82296" cy="1280160"/>
          </a:xfrm>
          <a:prstGeom prst="rect">
            <a:avLst/>
          </a:prstGeom>
          <a:solidFill>
            <a:srgbClr val="358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645919"/>
            <a:ext cx="31089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D4E"/>
                </a:solidFill>
                <a:latin typeface="Aptos"/>
              </a:defRPr>
            </a:pPr>
            <a:r>
              <a:t>Resource group 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75688"/>
            <a:ext cx="3108960" cy="6217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B343E"/>
                </a:solidFill>
                <a:latin typeface="Aptos"/>
              </a:defRPr>
            </a:pPr>
            <a:r>
              <a:t>local.name_prefix + "-" + var.resource_group_name</a:t>
            </a:r>
          </a:p>
          <a:p>
            <a:pPr>
              <a:spcAft>
                <a:spcPts val="500"/>
              </a:spcAft>
              <a:defRPr sz="1300" b="0">
                <a:solidFill>
                  <a:srgbClr val="2B343E"/>
                </a:solidFill>
                <a:latin typeface="Aptos"/>
              </a:defRPr>
            </a:pPr>
            <a:r>
              <a:t>→ sap-dev-gopal-rg (if tfvars uses gopal-rg)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08760"/>
            <a:ext cx="3429000" cy="128016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508760"/>
            <a:ext cx="82296" cy="1280160"/>
          </a:xfrm>
          <a:prstGeom prst="rect">
            <a:avLst/>
          </a:prstGeom>
          <a:solidFill>
            <a:srgbClr val="279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645919"/>
            <a:ext cx="31089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D4E"/>
                </a:solidFill>
                <a:latin typeface="Aptos"/>
              </a:defRPr>
            </a:pPr>
            <a:r>
              <a:t>VNet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75688"/>
            <a:ext cx="3108960" cy="6217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B343E"/>
                </a:solidFill>
                <a:latin typeface="Aptos"/>
              </a:defRPr>
            </a:pPr>
            <a:r>
              <a:t>local.name_prefix + "-" + var.vnet_name</a:t>
            </a:r>
          </a:p>
          <a:p>
            <a:pPr>
              <a:spcAft>
                <a:spcPts val="500"/>
              </a:spcAft>
              <a:defRPr sz="1300" b="0">
                <a:solidFill>
                  <a:srgbClr val="2B343E"/>
                </a:solidFill>
                <a:latin typeface="Aptos"/>
              </a:defRPr>
            </a:pPr>
            <a:r>
              <a:t>→ sap-dev-gopal-network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29184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D4E"/>
                </a:solidFill>
                <a:latin typeface="Aptos"/>
              </a:defRPr>
            </a:pPr>
            <a:r>
              <a:t>The exact final name depends on the value supplied for each variable.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3977639"/>
            <a:ext cx="5029200" cy="160020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tags = {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Project     = "sap"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Environment = "dev"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  ManagedBy   = "Kyn-dev-team01"</a:t>
            </a:r>
          </a:p>
          <a:p>
            <a:pPr>
              <a:spcAft>
                <a:spcPts val="0"/>
              </a:spcAft>
              <a:defRPr sz="1500">
                <a:solidFill>
                  <a:srgbClr val="162D4E"/>
                </a:solidFill>
                <a:latin typeface="Cascadia Code"/>
              </a:defRPr>
            </a:pPr>
            <a:r>
              <a:t>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114800"/>
            <a:ext cx="4572000" cy="1371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C79"/>
                </a:solidFill>
                <a:latin typeface="Aptos"/>
              </a:defRPr>
            </a:pPr>
            <a:r>
              <a:t>The same local tag map can be reused by the resource group and VNet. The subnet resource in the supplied code does not currently set tags.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D4E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A concise mental model for the complete configuration.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60120" cy="54864"/>
          </a:xfrm>
          <a:prstGeom prst="rect">
            <a:avLst/>
          </a:prstGeom>
          <a:solidFill>
            <a:srgbClr val="279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A69AF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8755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9"/>
                </a:solidFill>
                <a:latin typeface="Aptos"/>
              </a:defRPr>
            </a:pPr>
            <a:r>
              <a:t>Terraform on Azure • Resource Group, VNet, Subnet &amp; NSG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343E"/>
                </a:solidFill>
                <a:latin typeface="Aptos"/>
              </a:defRPr>
            </a:pPr>
            <a:r>
              <a:t>Variables are inputs; locals are derived/reusable expressions.</a:t>
            </a:r>
          </a:p>
          <a:p>
            <a:pPr>
              <a:spcAft>
                <a:spcPts val="800"/>
              </a:spcAft>
              <a:defRPr sz="1800">
                <a:solidFill>
                  <a:srgbClr val="2B343E"/>
                </a:solidFill>
                <a:latin typeface="Aptos"/>
              </a:defRPr>
            </a:pPr>
            <a:r>
              <a:t>Resource blocks declare desired infrastructure; labels identify resources inside Terraform.</a:t>
            </a:r>
          </a:p>
          <a:p>
            <a:pPr>
              <a:spcAft>
                <a:spcPts val="800"/>
              </a:spcAft>
              <a:defRPr sz="1800">
                <a:solidFill>
                  <a:srgbClr val="2B343E"/>
                </a:solidFill>
                <a:latin typeface="Aptos"/>
              </a:defRPr>
            </a:pPr>
            <a:r>
              <a:t>References such as `azurerm_virtual_network.vnet.name` read attributes and create dependencies.</a:t>
            </a:r>
          </a:p>
          <a:p>
            <a:pPr>
              <a:spcAft>
                <a:spcPts val="800"/>
              </a:spcAft>
              <a:defRPr sz="1800">
                <a:solidFill>
                  <a:srgbClr val="2B343E"/>
                </a:solidFill>
                <a:latin typeface="Aptos"/>
              </a:defRPr>
            </a:pPr>
            <a:r>
              <a:t>Outputs display selected values; they do not create resources.</a:t>
            </a:r>
          </a:p>
          <a:p>
            <a:pPr>
              <a:spcAft>
                <a:spcPts val="800"/>
              </a:spcAft>
              <a:defRPr sz="1800">
                <a:solidFill>
                  <a:srgbClr val="2B343E"/>
                </a:solidFill>
                <a:latin typeface="Aptos"/>
              </a:defRPr>
            </a:pPr>
            <a:r>
              <a:t>State maps Terraform resource addresses to real Azure objects—protect it.</a:t>
            </a:r>
          </a:p>
          <a:p>
            <a:pPr>
              <a:spcAft>
                <a:spcPts val="800"/>
              </a:spcAft>
              <a:defRPr sz="1800">
                <a:solidFill>
                  <a:srgbClr val="2B343E"/>
                </a:solidFill>
                <a:latin typeface="Aptos"/>
              </a:defRPr>
            </a:pPr>
            <a:r>
              <a:t>NSG rules need unique resource labels, sensible priorities and least-privilege source ranges.</a:t>
            </a:r>
          </a:p>
          <a:p>
            <a:pPr>
              <a:spcAft>
                <a:spcPts val="800"/>
              </a:spcAft>
              <a:defRPr sz="1800">
                <a:solidFill>
                  <a:srgbClr val="2B343E"/>
                </a:solidFill>
                <a:latin typeface="Aptos"/>
              </a:defRPr>
            </a:pPr>
            <a:r>
              <a:t>Always run fmt, validate and plan before apply; inspect destroy plans carefully.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5F6C79"/>
                </a:solidFill>
                <a:latin typeface="Aptos"/>
              </a:defRPr>
            </a:pPr>
            <a:r>
              <a:t>End of deck • Adapt names, CIDRs, authentication and security controls to your Azure environment.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